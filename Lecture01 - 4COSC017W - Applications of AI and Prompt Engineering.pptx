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1"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869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9544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244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580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117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2630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7804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97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60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495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399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7057510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oreil.ly/q7wQF" TargetMode="External"/><Relationship Id="rId2" Type="http://schemas.openxmlformats.org/officeDocument/2006/relationships/hyperlink" Target="https://oreil.ly/VCcgy"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CFE7086-7A7E-44FF-74EE-D784C4DC164A}"/>
              </a:ext>
            </a:extLst>
          </p:cNvPr>
          <p:cNvPicPr>
            <a:picLocks noChangeAspect="1"/>
          </p:cNvPicPr>
          <p:nvPr/>
        </p:nvPicPr>
        <p:blipFill>
          <a:blip r:embed="rId2">
            <a:alphaModFix amt="60000"/>
          </a:blip>
          <a:srcRect/>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BA7E9C5D-4BB5-C9EF-A0D6-DEC8E0DF2894}"/>
              </a:ext>
            </a:extLst>
          </p:cNvPr>
          <p:cNvSpPr>
            <a:spLocks noGrp="1"/>
          </p:cNvSpPr>
          <p:nvPr>
            <p:ph type="ctrTitle"/>
          </p:nvPr>
        </p:nvSpPr>
        <p:spPr>
          <a:xfrm>
            <a:off x="2301923" y="1482602"/>
            <a:ext cx="7588155" cy="2236264"/>
          </a:xfrm>
        </p:spPr>
        <p:txBody>
          <a:bodyPr>
            <a:normAutofit/>
          </a:bodyPr>
          <a:lstStyle/>
          <a:p>
            <a:r>
              <a:rPr lang="en-GB" sz="5000" dirty="0">
                <a:solidFill>
                  <a:srgbClr val="FFFFFF"/>
                </a:solidFill>
              </a:rPr>
              <a:t>4COSC017W - Applications of AI and Prompt Engineering</a:t>
            </a:r>
          </a:p>
        </p:txBody>
      </p:sp>
      <p:sp>
        <p:nvSpPr>
          <p:cNvPr id="3" name="Subtitle 2">
            <a:extLst>
              <a:ext uri="{FF2B5EF4-FFF2-40B4-BE49-F238E27FC236}">
                <a16:creationId xmlns:a16="http://schemas.microsoft.com/office/drawing/2014/main" id="{5AF45112-C1BC-3502-2A6C-589A8AFEB80F}"/>
              </a:ext>
            </a:extLst>
          </p:cNvPr>
          <p:cNvSpPr>
            <a:spLocks noGrp="1"/>
          </p:cNvSpPr>
          <p:nvPr>
            <p:ph type="subTitle" idx="1"/>
          </p:nvPr>
        </p:nvSpPr>
        <p:spPr>
          <a:xfrm>
            <a:off x="2301923" y="3793937"/>
            <a:ext cx="7588155" cy="1414091"/>
          </a:xfrm>
        </p:spPr>
        <p:txBody>
          <a:bodyPr>
            <a:normAutofit/>
          </a:bodyPr>
          <a:lstStyle/>
          <a:p>
            <a:r>
              <a:rPr lang="en-GB" sz="2200" dirty="0">
                <a:solidFill>
                  <a:srgbClr val="FFFFFF"/>
                </a:solidFill>
              </a:rPr>
              <a:t>Lecture 01 – What is </a:t>
            </a:r>
            <a:r>
              <a:rPr lang="en-GB" sz="2200">
                <a:solidFill>
                  <a:srgbClr val="FFFFFF"/>
                </a:solidFill>
              </a:rPr>
              <a:t>a Prompt?</a:t>
            </a:r>
            <a:endParaRPr lang="en-GB" sz="2200" dirty="0">
              <a:solidFill>
                <a:srgbClr val="FFFFFF"/>
              </a:solidFill>
            </a:endParaRPr>
          </a:p>
        </p:txBody>
      </p:sp>
    </p:spTree>
    <p:extLst>
      <p:ext uri="{BB962C8B-B14F-4D97-AF65-F5344CB8AC3E}">
        <p14:creationId xmlns:p14="http://schemas.microsoft.com/office/powerpoint/2010/main" val="37603111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38ACA-A490-AC02-CCD8-2D6A53882748}"/>
              </a:ext>
            </a:extLst>
          </p:cNvPr>
          <p:cNvSpPr>
            <a:spLocks noGrp="1"/>
          </p:cNvSpPr>
          <p:nvPr>
            <p:ph type="title"/>
          </p:nvPr>
        </p:nvSpPr>
        <p:spPr/>
        <p:txBody>
          <a:bodyPr/>
          <a:lstStyle/>
          <a:p>
            <a:r>
              <a:rPr lang="en-GB" b="0" dirty="0"/>
              <a:t>What is </a:t>
            </a:r>
            <a:r>
              <a:rPr lang="en-GB" b="0"/>
              <a:t>a prompt</a:t>
            </a:r>
            <a:r>
              <a:rPr lang="en-GB" b="0" dirty="0"/>
              <a:t>?</a:t>
            </a:r>
            <a:endParaRPr lang="en-GB" dirty="0"/>
          </a:p>
        </p:txBody>
      </p:sp>
      <p:sp>
        <p:nvSpPr>
          <p:cNvPr id="3" name="Content Placeholder 2">
            <a:extLst>
              <a:ext uri="{FF2B5EF4-FFF2-40B4-BE49-F238E27FC236}">
                <a16:creationId xmlns:a16="http://schemas.microsoft.com/office/drawing/2014/main" id="{9AE87BBA-E8DD-5B98-AC1E-2CE19518BE7A}"/>
              </a:ext>
            </a:extLst>
          </p:cNvPr>
          <p:cNvSpPr>
            <a:spLocks noGrp="1"/>
          </p:cNvSpPr>
          <p:nvPr>
            <p:ph idx="1"/>
          </p:nvPr>
        </p:nvSpPr>
        <p:spPr/>
        <p:txBody>
          <a:bodyPr/>
          <a:lstStyle/>
          <a:p>
            <a:r>
              <a:rPr lang="en-GB" dirty="0"/>
              <a:t>A </a:t>
            </a:r>
            <a:r>
              <a:rPr lang="en-GB" b="1" dirty="0"/>
              <a:t>prompt</a:t>
            </a:r>
            <a:r>
              <a:rPr lang="en-GB" dirty="0"/>
              <a:t> is the input you provide, typically text, when interfacing with an AI model like ChatGPT, Gemini or Midjourney, etc. </a:t>
            </a:r>
          </a:p>
          <a:p>
            <a:r>
              <a:rPr lang="en-GB" dirty="0"/>
              <a:t>The </a:t>
            </a:r>
            <a:r>
              <a:rPr lang="en-GB" b="1" dirty="0"/>
              <a:t>prompt</a:t>
            </a:r>
            <a:r>
              <a:rPr lang="en-GB" dirty="0"/>
              <a:t> serves as a set of instructions the model uses to predict the desired response which can be text from large language models (LLMs) like ChatGPT, or images from diffusion models like Midjourney.</a:t>
            </a:r>
          </a:p>
        </p:txBody>
      </p:sp>
    </p:spTree>
    <p:extLst>
      <p:ext uri="{BB962C8B-B14F-4D97-AF65-F5344CB8AC3E}">
        <p14:creationId xmlns:p14="http://schemas.microsoft.com/office/powerpoint/2010/main" val="307625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0A27-DCE7-C17F-0ECF-2A93042924B7}"/>
              </a:ext>
            </a:extLst>
          </p:cNvPr>
          <p:cNvSpPr>
            <a:spLocks noGrp="1"/>
          </p:cNvSpPr>
          <p:nvPr>
            <p:ph type="title"/>
          </p:nvPr>
        </p:nvSpPr>
        <p:spPr/>
        <p:txBody>
          <a:bodyPr/>
          <a:lstStyle/>
          <a:p>
            <a:r>
              <a:rPr lang="en-GB" dirty="0"/>
              <a:t>Textbook</a:t>
            </a:r>
          </a:p>
        </p:txBody>
      </p:sp>
      <p:sp>
        <p:nvSpPr>
          <p:cNvPr id="3" name="Content Placeholder 2">
            <a:extLst>
              <a:ext uri="{FF2B5EF4-FFF2-40B4-BE49-F238E27FC236}">
                <a16:creationId xmlns:a16="http://schemas.microsoft.com/office/drawing/2014/main" id="{9722E90E-3065-37E9-9837-7CDB4D7405E9}"/>
              </a:ext>
            </a:extLst>
          </p:cNvPr>
          <p:cNvSpPr>
            <a:spLocks noGrp="1"/>
          </p:cNvSpPr>
          <p:nvPr>
            <p:ph idx="1"/>
          </p:nvPr>
        </p:nvSpPr>
        <p:spPr>
          <a:xfrm>
            <a:off x="4647330" y="1308734"/>
            <a:ext cx="6739127" cy="5000625"/>
          </a:xfrm>
        </p:spPr>
        <p:txBody>
          <a:bodyPr/>
          <a:lstStyle/>
          <a:p>
            <a:r>
              <a:rPr lang="en-GB" b="1" dirty="0"/>
              <a:t>Prompt engineering for generative AI : future-proof inputs for reliable AI outputs at scale</a:t>
            </a:r>
          </a:p>
          <a:p>
            <a:r>
              <a:rPr lang="en-GB" dirty="0"/>
              <a:t>Phoenix, James, author.; Taylor, Mike (Computer engineer) author.; 2024</a:t>
            </a:r>
          </a:p>
        </p:txBody>
      </p:sp>
      <p:pic>
        <p:nvPicPr>
          <p:cNvPr id="1026" name="Picture 2">
            <a:extLst>
              <a:ext uri="{FF2B5EF4-FFF2-40B4-BE49-F238E27FC236}">
                <a16:creationId xmlns:a16="http://schemas.microsoft.com/office/drawing/2014/main" id="{5820919B-E092-C2BC-0D3A-2804DF064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989" y="1308734"/>
            <a:ext cx="38100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42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9B46-1592-4777-E7C4-F64B69694850}"/>
              </a:ext>
            </a:extLst>
          </p:cNvPr>
          <p:cNvSpPr>
            <a:spLocks noGrp="1"/>
          </p:cNvSpPr>
          <p:nvPr>
            <p:ph type="title"/>
          </p:nvPr>
        </p:nvSpPr>
        <p:spPr/>
        <p:txBody>
          <a:bodyPr/>
          <a:lstStyle/>
          <a:p>
            <a:r>
              <a:rPr lang="en-GB" dirty="0"/>
              <a:t>Example from Textbook, (2024)</a:t>
            </a:r>
          </a:p>
        </p:txBody>
      </p:sp>
      <p:sp>
        <p:nvSpPr>
          <p:cNvPr id="3" name="Content Placeholder 2">
            <a:extLst>
              <a:ext uri="{FF2B5EF4-FFF2-40B4-BE49-F238E27FC236}">
                <a16:creationId xmlns:a16="http://schemas.microsoft.com/office/drawing/2014/main" id="{5B268C2B-9511-1727-CF8C-BB116535027A}"/>
              </a:ext>
            </a:extLst>
          </p:cNvPr>
          <p:cNvSpPr>
            <a:spLocks noGrp="1"/>
          </p:cNvSpPr>
          <p:nvPr>
            <p:ph idx="1"/>
          </p:nvPr>
        </p:nvSpPr>
        <p:spPr/>
        <p:txBody>
          <a:bodyPr>
            <a:normAutofit fontScale="77500" lnSpcReduction="20000"/>
          </a:bodyPr>
          <a:lstStyle/>
          <a:p>
            <a:r>
              <a:rPr lang="en-GB" b="1" dirty="0"/>
              <a:t>Input</a:t>
            </a:r>
          </a:p>
          <a:p>
            <a:pPr fontAlgn="base"/>
            <a:r>
              <a:rPr lang="en-GB" dirty="0"/>
              <a:t>Can I have a list of product names for a pair of shoes that can fit any foot size?</a:t>
            </a:r>
          </a:p>
          <a:p>
            <a:endParaRPr lang="en-GB" dirty="0"/>
          </a:p>
          <a:p>
            <a:r>
              <a:rPr lang="en-GB" b="1" dirty="0"/>
              <a:t>Output</a:t>
            </a:r>
          </a:p>
          <a:p>
            <a:pPr fontAlgn="base"/>
            <a:r>
              <a:rPr lang="en-GB" dirty="0"/>
              <a:t>Certainly! Here's a list of product names for a pair of shoes that can fit any foot size:</a:t>
            </a:r>
          </a:p>
          <a:p>
            <a:pPr fontAlgn="base"/>
            <a:endParaRPr lang="en-GB" dirty="0"/>
          </a:p>
          <a:p>
            <a:pPr fontAlgn="base"/>
            <a:r>
              <a:rPr lang="en-GB" dirty="0" err="1"/>
              <a:t>UniFit</a:t>
            </a:r>
            <a:r>
              <a:rPr lang="en-GB" dirty="0"/>
              <a:t> </a:t>
            </a:r>
            <a:r>
              <a:rPr lang="en-GB" dirty="0" err="1"/>
              <a:t>SoleStrides</a:t>
            </a:r>
            <a:endParaRPr lang="en-GB" dirty="0"/>
          </a:p>
          <a:p>
            <a:pPr fontAlgn="base"/>
            <a:r>
              <a:rPr lang="en-GB" dirty="0" err="1"/>
              <a:t>FlexiSize</a:t>
            </a:r>
            <a:r>
              <a:rPr lang="en-GB" dirty="0"/>
              <a:t> All-Fit Shoes</a:t>
            </a:r>
          </a:p>
          <a:p>
            <a:pPr fontAlgn="base"/>
            <a:r>
              <a:rPr lang="en-GB" dirty="0" err="1"/>
              <a:t>OmniFit</a:t>
            </a:r>
            <a:r>
              <a:rPr lang="en-GB" dirty="0"/>
              <a:t> </a:t>
            </a:r>
            <a:r>
              <a:rPr lang="en-GB" dirty="0" err="1"/>
              <a:t>FootFlex</a:t>
            </a:r>
            <a:endParaRPr lang="en-GB" dirty="0"/>
          </a:p>
          <a:p>
            <a:pPr fontAlgn="base"/>
            <a:r>
              <a:rPr lang="en-GB" dirty="0" err="1"/>
              <a:t>AnyStep</a:t>
            </a:r>
            <a:r>
              <a:rPr lang="en-GB" dirty="0"/>
              <a:t> </a:t>
            </a:r>
            <a:r>
              <a:rPr lang="en-GB" dirty="0" err="1"/>
              <a:t>AdaptiWalkers</a:t>
            </a:r>
            <a:endParaRPr lang="en-GB" dirty="0"/>
          </a:p>
          <a:p>
            <a:pPr fontAlgn="base"/>
            <a:r>
              <a:rPr lang="en-GB" dirty="0" err="1"/>
              <a:t>FlexiRange</a:t>
            </a:r>
            <a:r>
              <a:rPr lang="en-GB" dirty="0"/>
              <a:t> </a:t>
            </a:r>
            <a:r>
              <a:rPr lang="en-GB" dirty="0" err="1"/>
              <a:t>UniversalSteps</a:t>
            </a:r>
            <a:endParaRPr lang="en-GB" dirty="0"/>
          </a:p>
          <a:p>
            <a:pPr fontAlgn="base"/>
            <a:r>
              <a:rPr lang="en-GB" dirty="0" err="1"/>
              <a:t>PerfectGlide</a:t>
            </a:r>
            <a:r>
              <a:rPr lang="en-GB" dirty="0"/>
              <a:t> </a:t>
            </a:r>
            <a:r>
              <a:rPr lang="en-GB" dirty="0" err="1"/>
              <a:t>MultiFit</a:t>
            </a:r>
            <a:r>
              <a:rPr lang="en-GB" dirty="0"/>
              <a:t> Shoes</a:t>
            </a:r>
          </a:p>
          <a:p>
            <a:endParaRPr lang="en-GB" dirty="0"/>
          </a:p>
        </p:txBody>
      </p:sp>
    </p:spTree>
    <p:extLst>
      <p:ext uri="{BB962C8B-B14F-4D97-AF65-F5344CB8AC3E}">
        <p14:creationId xmlns:p14="http://schemas.microsoft.com/office/powerpoint/2010/main" val="2318899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5F92-7E3B-E438-AD95-93046D6E02F1}"/>
              </a:ext>
            </a:extLst>
          </p:cNvPr>
          <p:cNvSpPr>
            <a:spLocks noGrp="1"/>
          </p:cNvSpPr>
          <p:nvPr>
            <p:ph type="title"/>
          </p:nvPr>
        </p:nvSpPr>
        <p:spPr/>
        <p:txBody>
          <a:bodyPr/>
          <a:lstStyle/>
          <a:p>
            <a:r>
              <a:rPr lang="en-GB" dirty="0"/>
              <a:t>The authors comment</a:t>
            </a:r>
          </a:p>
        </p:txBody>
      </p:sp>
      <p:sp>
        <p:nvSpPr>
          <p:cNvPr id="3" name="Content Placeholder 2">
            <a:extLst>
              <a:ext uri="{FF2B5EF4-FFF2-40B4-BE49-F238E27FC236}">
                <a16:creationId xmlns:a16="http://schemas.microsoft.com/office/drawing/2014/main" id="{F58254BD-644C-987E-01D9-BDA22A9DDE0E}"/>
              </a:ext>
            </a:extLst>
          </p:cNvPr>
          <p:cNvSpPr>
            <a:spLocks noGrp="1"/>
          </p:cNvSpPr>
          <p:nvPr>
            <p:ph idx="1"/>
          </p:nvPr>
        </p:nvSpPr>
        <p:spPr/>
        <p:txBody>
          <a:bodyPr/>
          <a:lstStyle/>
          <a:p>
            <a:r>
              <a:rPr lang="en-GB" dirty="0"/>
              <a:t>This is already a remarkable response for a naive prompt, which feels like magic because we got here with very little effort. As the state-of-the-art models improve, the likelihood you will get </a:t>
            </a:r>
            <a:r>
              <a:rPr lang="en-GB" i="1" dirty="0"/>
              <a:t>good enough</a:t>
            </a:r>
            <a:r>
              <a:rPr lang="en-GB" dirty="0"/>
              <a:t> results on your first try goes up</a:t>
            </a:r>
          </a:p>
        </p:txBody>
      </p:sp>
    </p:spTree>
    <p:extLst>
      <p:ext uri="{BB962C8B-B14F-4D97-AF65-F5344CB8AC3E}">
        <p14:creationId xmlns:p14="http://schemas.microsoft.com/office/powerpoint/2010/main" val="2486483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FFCF3-0C9E-F098-FA44-EBC30C7DEA83}"/>
              </a:ext>
            </a:extLst>
          </p:cNvPr>
          <p:cNvSpPr>
            <a:spLocks noGrp="1"/>
          </p:cNvSpPr>
          <p:nvPr>
            <p:ph type="title"/>
          </p:nvPr>
        </p:nvSpPr>
        <p:spPr/>
        <p:txBody>
          <a:bodyPr/>
          <a:lstStyle/>
          <a:p>
            <a:r>
              <a:rPr lang="en-GB" dirty="0"/>
              <a:t>Output for the same question today in ChatGPT</a:t>
            </a:r>
          </a:p>
        </p:txBody>
      </p:sp>
      <p:sp>
        <p:nvSpPr>
          <p:cNvPr id="3" name="Content Placeholder 2">
            <a:extLst>
              <a:ext uri="{FF2B5EF4-FFF2-40B4-BE49-F238E27FC236}">
                <a16:creationId xmlns:a16="http://schemas.microsoft.com/office/drawing/2014/main" id="{53EF63F5-0E3A-B5C2-CE11-36514D2D6AF3}"/>
              </a:ext>
            </a:extLst>
          </p:cNvPr>
          <p:cNvSpPr>
            <a:spLocks noGrp="1"/>
          </p:cNvSpPr>
          <p:nvPr>
            <p:ph idx="1"/>
          </p:nvPr>
        </p:nvSpPr>
        <p:spPr/>
        <p:txBody>
          <a:bodyPr/>
          <a:lstStyle/>
          <a:p>
            <a:r>
              <a:rPr lang="en-GB" dirty="0"/>
              <a:t>You </a:t>
            </a:r>
            <a:r>
              <a:rPr lang="en-GB" i="1" dirty="0"/>
              <a:t>can</a:t>
            </a:r>
            <a:r>
              <a:rPr lang="en-GB" dirty="0"/>
              <a:t> name them something like that—but a quick reality check first: a shoe that “fits any foot size” is a bold claim. Unless you’re using adaptive materials (stretch knit, modular soles, adjustable frames, etc.), it might come across as gimmicky. A better angle is to suggest </a:t>
            </a:r>
            <a:r>
              <a:rPr lang="en-GB" b="1" dirty="0"/>
              <a:t>universal fit, adaptive comfort, or size-flex tech</a:t>
            </a:r>
            <a:r>
              <a:rPr lang="en-GB" dirty="0"/>
              <a:t> in the name.</a:t>
            </a:r>
          </a:p>
          <a:p>
            <a:r>
              <a:rPr lang="en-GB" dirty="0"/>
              <a:t>Here are some strong, marketable name ideas grouped by style:</a:t>
            </a:r>
          </a:p>
          <a:p>
            <a:endParaRPr lang="en-GB" dirty="0"/>
          </a:p>
        </p:txBody>
      </p:sp>
    </p:spTree>
    <p:extLst>
      <p:ext uri="{BB962C8B-B14F-4D97-AF65-F5344CB8AC3E}">
        <p14:creationId xmlns:p14="http://schemas.microsoft.com/office/powerpoint/2010/main" val="93497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6349-B632-3912-30FC-F36E88E11F7C}"/>
              </a:ext>
            </a:extLst>
          </p:cNvPr>
          <p:cNvSpPr>
            <a:spLocks noGrp="1"/>
          </p:cNvSpPr>
          <p:nvPr>
            <p:ph type="title"/>
          </p:nvPr>
        </p:nvSpPr>
        <p:spPr/>
        <p:txBody>
          <a:bodyPr/>
          <a:lstStyle/>
          <a:p>
            <a:r>
              <a:rPr lang="en-GB" dirty="0"/>
              <a:t>Tech / Futuristic Style</a:t>
            </a:r>
          </a:p>
        </p:txBody>
      </p:sp>
      <p:sp>
        <p:nvSpPr>
          <p:cNvPr id="3" name="Content Placeholder 2">
            <a:extLst>
              <a:ext uri="{FF2B5EF4-FFF2-40B4-BE49-F238E27FC236}">
                <a16:creationId xmlns:a16="http://schemas.microsoft.com/office/drawing/2014/main" id="{E039406A-0846-D4BB-D825-45D5E4DB9543}"/>
              </a:ext>
            </a:extLst>
          </p:cNvPr>
          <p:cNvSpPr>
            <a:spLocks noGrp="1"/>
          </p:cNvSpPr>
          <p:nvPr>
            <p:ph idx="1"/>
          </p:nvPr>
        </p:nvSpPr>
        <p:spPr/>
        <p:txBody>
          <a:bodyPr/>
          <a:lstStyle/>
          <a:p>
            <a:r>
              <a:rPr lang="en-GB" dirty="0" err="1"/>
              <a:t>OmniFit</a:t>
            </a:r>
            <a:endParaRPr lang="en-GB" dirty="0"/>
          </a:p>
          <a:p>
            <a:r>
              <a:rPr lang="en-GB" dirty="0" err="1"/>
              <a:t>FlexAdapt</a:t>
            </a:r>
            <a:endParaRPr lang="en-GB" dirty="0"/>
          </a:p>
          <a:p>
            <a:r>
              <a:rPr lang="en-GB" dirty="0" err="1"/>
              <a:t>MorphStep</a:t>
            </a:r>
            <a:endParaRPr lang="en-GB" dirty="0"/>
          </a:p>
          <a:p>
            <a:r>
              <a:rPr lang="en-GB" dirty="0" err="1"/>
              <a:t>UniStride</a:t>
            </a:r>
            <a:endParaRPr lang="en-GB" dirty="0"/>
          </a:p>
          <a:p>
            <a:r>
              <a:rPr lang="en-GB" dirty="0"/>
              <a:t>AutoFit X</a:t>
            </a:r>
          </a:p>
          <a:p>
            <a:r>
              <a:rPr lang="en-GB" dirty="0" err="1"/>
              <a:t>Elasticore</a:t>
            </a:r>
            <a:endParaRPr lang="en-GB" dirty="0"/>
          </a:p>
          <a:p>
            <a:r>
              <a:rPr lang="en-GB" dirty="0" err="1"/>
              <a:t>FitShift</a:t>
            </a:r>
            <a:endParaRPr lang="en-GB" dirty="0"/>
          </a:p>
          <a:p>
            <a:r>
              <a:rPr lang="en-GB" dirty="0" err="1"/>
              <a:t>SizeSync</a:t>
            </a:r>
            <a:endParaRPr lang="en-GB" dirty="0"/>
          </a:p>
          <a:p>
            <a:r>
              <a:rPr lang="en-GB" dirty="0"/>
              <a:t>NeoFit One</a:t>
            </a:r>
          </a:p>
        </p:txBody>
      </p:sp>
    </p:spTree>
    <p:extLst>
      <p:ext uri="{BB962C8B-B14F-4D97-AF65-F5344CB8AC3E}">
        <p14:creationId xmlns:p14="http://schemas.microsoft.com/office/powerpoint/2010/main" val="406523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3FC3-109F-7356-EC2A-C433F00F61EE}"/>
              </a:ext>
            </a:extLst>
          </p:cNvPr>
          <p:cNvSpPr>
            <a:spLocks noGrp="1"/>
          </p:cNvSpPr>
          <p:nvPr>
            <p:ph type="title"/>
          </p:nvPr>
        </p:nvSpPr>
        <p:spPr/>
        <p:txBody>
          <a:bodyPr/>
          <a:lstStyle/>
          <a:p>
            <a:r>
              <a:rPr lang="en-GB" dirty="0"/>
              <a:t>Premium / Brandable Names</a:t>
            </a:r>
          </a:p>
        </p:txBody>
      </p:sp>
      <p:sp>
        <p:nvSpPr>
          <p:cNvPr id="3" name="Content Placeholder 2">
            <a:extLst>
              <a:ext uri="{FF2B5EF4-FFF2-40B4-BE49-F238E27FC236}">
                <a16:creationId xmlns:a16="http://schemas.microsoft.com/office/drawing/2014/main" id="{B1D8D384-34A2-51F0-F42E-52FC665DE78F}"/>
              </a:ext>
            </a:extLst>
          </p:cNvPr>
          <p:cNvSpPr>
            <a:spLocks noGrp="1"/>
          </p:cNvSpPr>
          <p:nvPr>
            <p:ph idx="1"/>
          </p:nvPr>
        </p:nvSpPr>
        <p:spPr/>
        <p:txBody>
          <a:bodyPr/>
          <a:lstStyle/>
          <a:p>
            <a:r>
              <a:rPr lang="en-GB" dirty="0"/>
              <a:t>Velora Fit</a:t>
            </a:r>
          </a:p>
          <a:p>
            <a:r>
              <a:rPr lang="en-GB" dirty="0" err="1"/>
              <a:t>Stridex</a:t>
            </a:r>
            <a:r>
              <a:rPr lang="en-GB" dirty="0"/>
              <a:t> One</a:t>
            </a:r>
          </a:p>
          <a:p>
            <a:r>
              <a:rPr lang="en-GB" dirty="0"/>
              <a:t>Novara Flex</a:t>
            </a:r>
          </a:p>
          <a:p>
            <a:r>
              <a:rPr lang="en-GB" dirty="0" err="1"/>
              <a:t>Auralign</a:t>
            </a:r>
            <a:endParaRPr lang="en-GB" dirty="0"/>
          </a:p>
          <a:p>
            <a:r>
              <a:rPr lang="en-GB" dirty="0" err="1"/>
              <a:t>Vantix</a:t>
            </a:r>
            <a:r>
              <a:rPr lang="en-GB" dirty="0"/>
              <a:t> Fit</a:t>
            </a:r>
          </a:p>
          <a:p>
            <a:r>
              <a:rPr lang="en-GB" dirty="0" err="1"/>
              <a:t>ElixStep</a:t>
            </a:r>
            <a:endParaRPr lang="en-GB" dirty="0"/>
          </a:p>
          <a:p>
            <a:r>
              <a:rPr lang="en-GB" dirty="0" err="1"/>
              <a:t>Zynari</a:t>
            </a:r>
            <a:endParaRPr lang="en-GB" dirty="0"/>
          </a:p>
          <a:p>
            <a:r>
              <a:rPr lang="en-GB" dirty="0" err="1"/>
              <a:t>OrthoFlex</a:t>
            </a:r>
            <a:r>
              <a:rPr lang="en-GB" dirty="0"/>
              <a:t> Prime</a:t>
            </a:r>
          </a:p>
          <a:p>
            <a:r>
              <a:rPr lang="en-GB" dirty="0" err="1"/>
              <a:t>Nexara</a:t>
            </a:r>
            <a:r>
              <a:rPr lang="en-GB" dirty="0"/>
              <a:t> Step</a:t>
            </a:r>
          </a:p>
        </p:txBody>
      </p:sp>
    </p:spTree>
    <p:extLst>
      <p:ext uri="{BB962C8B-B14F-4D97-AF65-F5344CB8AC3E}">
        <p14:creationId xmlns:p14="http://schemas.microsoft.com/office/powerpoint/2010/main" val="2768993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CB9F-25AE-1264-4528-2E76A14F892C}"/>
              </a:ext>
            </a:extLst>
          </p:cNvPr>
          <p:cNvSpPr>
            <a:spLocks noGrp="1"/>
          </p:cNvSpPr>
          <p:nvPr>
            <p:ph type="title"/>
          </p:nvPr>
        </p:nvSpPr>
        <p:spPr/>
        <p:txBody>
          <a:bodyPr/>
          <a:lstStyle/>
          <a:p>
            <a:r>
              <a:rPr lang="en-GB" dirty="0"/>
              <a:t>Simple &amp; Descriptive</a:t>
            </a:r>
          </a:p>
        </p:txBody>
      </p:sp>
      <p:sp>
        <p:nvSpPr>
          <p:cNvPr id="3" name="Content Placeholder 2">
            <a:extLst>
              <a:ext uri="{FF2B5EF4-FFF2-40B4-BE49-F238E27FC236}">
                <a16:creationId xmlns:a16="http://schemas.microsoft.com/office/drawing/2014/main" id="{CEE34C34-E6C2-3541-66B2-6768312BE775}"/>
              </a:ext>
            </a:extLst>
          </p:cNvPr>
          <p:cNvSpPr>
            <a:spLocks noGrp="1"/>
          </p:cNvSpPr>
          <p:nvPr>
            <p:ph idx="1"/>
          </p:nvPr>
        </p:nvSpPr>
        <p:spPr/>
        <p:txBody>
          <a:bodyPr/>
          <a:lstStyle/>
          <a:p>
            <a:r>
              <a:rPr lang="en-GB" dirty="0" err="1"/>
              <a:t>OneSize</a:t>
            </a:r>
            <a:r>
              <a:rPr lang="en-GB" dirty="0"/>
              <a:t> Step</a:t>
            </a:r>
          </a:p>
          <a:p>
            <a:r>
              <a:rPr lang="en-GB" dirty="0"/>
              <a:t>Universal Fit Shoes</a:t>
            </a:r>
          </a:p>
          <a:p>
            <a:r>
              <a:rPr lang="en-GB" dirty="0" err="1"/>
              <a:t>FlexiSize</a:t>
            </a:r>
            <a:r>
              <a:rPr lang="en-GB" dirty="0"/>
              <a:t> Walkers</a:t>
            </a:r>
          </a:p>
          <a:p>
            <a:r>
              <a:rPr lang="en-GB" dirty="0" err="1"/>
              <a:t>AllFit</a:t>
            </a:r>
            <a:r>
              <a:rPr lang="en-GB" dirty="0"/>
              <a:t> Sneakers</a:t>
            </a:r>
          </a:p>
          <a:p>
            <a:r>
              <a:rPr lang="en-GB" dirty="0" err="1"/>
              <a:t>AdjustaStep</a:t>
            </a:r>
            <a:endParaRPr lang="en-GB" dirty="0"/>
          </a:p>
          <a:p>
            <a:r>
              <a:rPr lang="en-GB" dirty="0" err="1"/>
              <a:t>TrueFit</a:t>
            </a:r>
            <a:r>
              <a:rPr lang="en-GB" dirty="0"/>
              <a:t> Shoes</a:t>
            </a:r>
          </a:p>
          <a:p>
            <a:r>
              <a:rPr lang="en-GB" dirty="0" err="1"/>
              <a:t>EasyFit</a:t>
            </a:r>
            <a:r>
              <a:rPr lang="en-GB" dirty="0"/>
              <a:t> Walk</a:t>
            </a:r>
          </a:p>
        </p:txBody>
      </p:sp>
    </p:spTree>
    <p:extLst>
      <p:ext uri="{BB962C8B-B14F-4D97-AF65-F5344CB8AC3E}">
        <p14:creationId xmlns:p14="http://schemas.microsoft.com/office/powerpoint/2010/main" val="59993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9FFC-FDFE-E4FD-C182-06C587D66855}"/>
              </a:ext>
            </a:extLst>
          </p:cNvPr>
          <p:cNvSpPr>
            <a:spLocks noGrp="1"/>
          </p:cNvSpPr>
          <p:nvPr>
            <p:ph type="title"/>
          </p:nvPr>
        </p:nvSpPr>
        <p:spPr/>
        <p:txBody>
          <a:bodyPr/>
          <a:lstStyle/>
          <a:p>
            <a:r>
              <a:rPr lang="en-GB" dirty="0"/>
              <a:t>Catchy / Consumer-Friendly</a:t>
            </a:r>
            <a:br>
              <a:rPr lang="en-GB" dirty="0"/>
            </a:br>
            <a:endParaRPr lang="en-GB" dirty="0"/>
          </a:p>
        </p:txBody>
      </p:sp>
      <p:sp>
        <p:nvSpPr>
          <p:cNvPr id="3" name="Content Placeholder 2">
            <a:extLst>
              <a:ext uri="{FF2B5EF4-FFF2-40B4-BE49-F238E27FC236}">
                <a16:creationId xmlns:a16="http://schemas.microsoft.com/office/drawing/2014/main" id="{68C01EE5-1B0E-5B58-061A-D6102AAEC8DF}"/>
              </a:ext>
            </a:extLst>
          </p:cNvPr>
          <p:cNvSpPr>
            <a:spLocks noGrp="1"/>
          </p:cNvSpPr>
          <p:nvPr>
            <p:ph idx="1"/>
          </p:nvPr>
        </p:nvSpPr>
        <p:spPr/>
        <p:txBody>
          <a:bodyPr/>
          <a:lstStyle/>
          <a:p>
            <a:r>
              <a:rPr lang="en-GB" dirty="0" err="1"/>
              <a:t>FitForAll</a:t>
            </a:r>
            <a:r>
              <a:rPr lang="en-GB" dirty="0"/>
              <a:t> </a:t>
            </a:r>
          </a:p>
          <a:p>
            <a:r>
              <a:rPr lang="en-GB" dirty="0" err="1"/>
              <a:t>OneStep</a:t>
            </a:r>
            <a:r>
              <a:rPr lang="en-GB" dirty="0"/>
              <a:t> Fits All </a:t>
            </a:r>
          </a:p>
          <a:p>
            <a:r>
              <a:rPr lang="en-GB" dirty="0" err="1"/>
              <a:t>StretchStride</a:t>
            </a:r>
            <a:r>
              <a:rPr lang="en-GB" dirty="0"/>
              <a:t> </a:t>
            </a:r>
          </a:p>
          <a:p>
            <a:r>
              <a:rPr lang="en-GB" dirty="0" err="1"/>
              <a:t>SlipFlex</a:t>
            </a:r>
            <a:r>
              <a:rPr lang="en-GB" dirty="0"/>
              <a:t> </a:t>
            </a:r>
          </a:p>
          <a:p>
            <a:r>
              <a:rPr lang="en-GB" dirty="0" err="1"/>
              <a:t>HugFit</a:t>
            </a:r>
            <a:r>
              <a:rPr lang="en-GB" dirty="0"/>
              <a:t> Shoes </a:t>
            </a:r>
          </a:p>
          <a:p>
            <a:r>
              <a:rPr lang="en-GB" dirty="0" err="1"/>
              <a:t>EverFit</a:t>
            </a:r>
            <a:r>
              <a:rPr lang="en-GB" dirty="0"/>
              <a:t> </a:t>
            </a:r>
          </a:p>
          <a:p>
            <a:r>
              <a:rPr lang="en-GB" dirty="0" err="1"/>
              <a:t>ComfyMorph</a:t>
            </a:r>
            <a:r>
              <a:rPr lang="en-GB" dirty="0"/>
              <a:t> </a:t>
            </a:r>
          </a:p>
          <a:p>
            <a:r>
              <a:rPr lang="en-GB" dirty="0" err="1"/>
              <a:t>FitEase</a:t>
            </a:r>
            <a:endParaRPr lang="en-GB" dirty="0"/>
          </a:p>
          <a:p>
            <a:endParaRPr lang="en-GB" dirty="0"/>
          </a:p>
        </p:txBody>
      </p:sp>
    </p:spTree>
    <p:extLst>
      <p:ext uri="{BB962C8B-B14F-4D97-AF65-F5344CB8AC3E}">
        <p14:creationId xmlns:p14="http://schemas.microsoft.com/office/powerpoint/2010/main" val="3581319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B9C0-0C60-762C-3573-A6DF3BEE0C41}"/>
              </a:ext>
            </a:extLst>
          </p:cNvPr>
          <p:cNvSpPr>
            <a:spLocks noGrp="1"/>
          </p:cNvSpPr>
          <p:nvPr>
            <p:ph type="title"/>
          </p:nvPr>
        </p:nvSpPr>
        <p:spPr/>
        <p:txBody>
          <a:bodyPr/>
          <a:lstStyle/>
          <a:p>
            <a:r>
              <a:rPr lang="en-GB" dirty="0"/>
              <a:t>Sport / Performance Style</a:t>
            </a:r>
            <a:br>
              <a:rPr lang="en-GB" dirty="0"/>
            </a:br>
            <a:endParaRPr lang="en-GB" dirty="0"/>
          </a:p>
        </p:txBody>
      </p:sp>
      <p:sp>
        <p:nvSpPr>
          <p:cNvPr id="3" name="Content Placeholder 2">
            <a:extLst>
              <a:ext uri="{FF2B5EF4-FFF2-40B4-BE49-F238E27FC236}">
                <a16:creationId xmlns:a16="http://schemas.microsoft.com/office/drawing/2014/main" id="{F693BE2F-AD65-C309-72FF-396D4F45A15B}"/>
              </a:ext>
            </a:extLst>
          </p:cNvPr>
          <p:cNvSpPr>
            <a:spLocks noGrp="1"/>
          </p:cNvSpPr>
          <p:nvPr>
            <p:ph idx="1"/>
          </p:nvPr>
        </p:nvSpPr>
        <p:spPr/>
        <p:txBody>
          <a:bodyPr/>
          <a:lstStyle/>
          <a:p>
            <a:r>
              <a:rPr lang="en-GB" dirty="0" err="1"/>
              <a:t>FlexRunner</a:t>
            </a:r>
            <a:r>
              <a:rPr lang="en-GB" dirty="0"/>
              <a:t> One </a:t>
            </a:r>
          </a:p>
          <a:p>
            <a:r>
              <a:rPr lang="en-GB" dirty="0" err="1"/>
              <a:t>OmniStride</a:t>
            </a:r>
            <a:r>
              <a:rPr lang="en-GB" dirty="0"/>
              <a:t> Pro </a:t>
            </a:r>
          </a:p>
          <a:p>
            <a:r>
              <a:rPr lang="en-GB" dirty="0" err="1"/>
              <a:t>AdaptRun</a:t>
            </a:r>
            <a:r>
              <a:rPr lang="en-GB" dirty="0"/>
              <a:t> </a:t>
            </a:r>
          </a:p>
          <a:p>
            <a:r>
              <a:rPr lang="en-GB" dirty="0" err="1"/>
              <a:t>UniFit</a:t>
            </a:r>
            <a:r>
              <a:rPr lang="en-GB" dirty="0"/>
              <a:t> Trainer </a:t>
            </a:r>
          </a:p>
          <a:p>
            <a:r>
              <a:rPr lang="en-GB" dirty="0" err="1"/>
              <a:t>MorphFlex</a:t>
            </a:r>
            <a:r>
              <a:rPr lang="en-GB" dirty="0"/>
              <a:t> Sport </a:t>
            </a:r>
          </a:p>
          <a:p>
            <a:r>
              <a:rPr lang="en-GB" dirty="0" err="1"/>
              <a:t>DynamicFit</a:t>
            </a:r>
            <a:r>
              <a:rPr lang="en-GB" dirty="0"/>
              <a:t> X</a:t>
            </a:r>
          </a:p>
          <a:p>
            <a:endParaRPr lang="en-GB" dirty="0"/>
          </a:p>
        </p:txBody>
      </p:sp>
    </p:spTree>
    <p:extLst>
      <p:ext uri="{BB962C8B-B14F-4D97-AF65-F5344CB8AC3E}">
        <p14:creationId xmlns:p14="http://schemas.microsoft.com/office/powerpoint/2010/main" val="70019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DA693-61BA-88AF-9741-F7E10A9A47BD}"/>
              </a:ext>
            </a:extLst>
          </p:cNvPr>
          <p:cNvSpPr>
            <a:spLocks noGrp="1"/>
          </p:cNvSpPr>
          <p:nvPr>
            <p:ph type="title"/>
          </p:nvPr>
        </p:nvSpPr>
        <p:spPr/>
        <p:txBody>
          <a:bodyPr/>
          <a:lstStyle/>
          <a:p>
            <a:r>
              <a:rPr lang="en-GB" dirty="0"/>
              <a:t>And it then gives more suggestions</a:t>
            </a:r>
          </a:p>
        </p:txBody>
      </p:sp>
      <p:sp>
        <p:nvSpPr>
          <p:cNvPr id="3" name="Content Placeholder 2">
            <a:extLst>
              <a:ext uri="{FF2B5EF4-FFF2-40B4-BE49-F238E27FC236}">
                <a16:creationId xmlns:a16="http://schemas.microsoft.com/office/drawing/2014/main" id="{A10CF214-246E-77DF-0F56-CE3C7F70E0A5}"/>
              </a:ext>
            </a:extLst>
          </p:cNvPr>
          <p:cNvSpPr>
            <a:spLocks noGrp="1"/>
          </p:cNvSpPr>
          <p:nvPr>
            <p:ph idx="1"/>
          </p:nvPr>
        </p:nvSpPr>
        <p:spPr/>
        <p:txBody>
          <a:bodyPr/>
          <a:lstStyle/>
          <a:p>
            <a:r>
              <a:rPr lang="en-GB" dirty="0"/>
              <a:t>If you want, I can refine this further based on:</a:t>
            </a:r>
          </a:p>
          <a:p>
            <a:pPr lvl="1"/>
            <a:r>
              <a:rPr lang="en-GB" dirty="0"/>
              <a:t>Target audience (luxury, budget, athletes, kids, etc.) </a:t>
            </a:r>
          </a:p>
          <a:p>
            <a:pPr lvl="1"/>
            <a:r>
              <a:rPr lang="en-GB" dirty="0"/>
              <a:t>Tone (serious, futuristic, playful, premium) </a:t>
            </a:r>
          </a:p>
          <a:p>
            <a:pPr lvl="1"/>
            <a:r>
              <a:rPr lang="en-GB" dirty="0"/>
              <a:t>Whether this is for a real startup or just a concept </a:t>
            </a:r>
          </a:p>
          <a:p>
            <a:r>
              <a:rPr lang="en-GB" dirty="0"/>
              <a:t>That way the names feel </a:t>
            </a:r>
            <a:r>
              <a:rPr lang="en-GB" i="1" dirty="0"/>
              <a:t>much</a:t>
            </a:r>
            <a:r>
              <a:rPr lang="en-GB" dirty="0"/>
              <a:t> sharper and more realistic.</a:t>
            </a:r>
          </a:p>
          <a:p>
            <a:endParaRPr lang="en-GB" dirty="0"/>
          </a:p>
        </p:txBody>
      </p:sp>
    </p:spTree>
    <p:extLst>
      <p:ext uri="{BB962C8B-B14F-4D97-AF65-F5344CB8AC3E}">
        <p14:creationId xmlns:p14="http://schemas.microsoft.com/office/powerpoint/2010/main" val="1219187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150C-4F2E-D888-4B98-650F857CB2E9}"/>
              </a:ext>
            </a:extLst>
          </p:cNvPr>
          <p:cNvSpPr>
            <a:spLocks noGrp="1"/>
          </p:cNvSpPr>
          <p:nvPr>
            <p:ph type="title"/>
          </p:nvPr>
        </p:nvSpPr>
        <p:spPr/>
        <p:txBody>
          <a:bodyPr/>
          <a:lstStyle/>
          <a:p>
            <a:r>
              <a:rPr lang="en-GB" dirty="0"/>
              <a:t>Issues with this prompt</a:t>
            </a:r>
          </a:p>
        </p:txBody>
      </p:sp>
      <p:sp>
        <p:nvSpPr>
          <p:cNvPr id="3" name="Content Placeholder 2">
            <a:extLst>
              <a:ext uri="{FF2B5EF4-FFF2-40B4-BE49-F238E27FC236}">
                <a16:creationId xmlns:a16="http://schemas.microsoft.com/office/drawing/2014/main" id="{20D2A7B2-1120-632C-CFCF-885C0DE25D67}"/>
              </a:ext>
            </a:extLst>
          </p:cNvPr>
          <p:cNvSpPr>
            <a:spLocks noGrp="1"/>
          </p:cNvSpPr>
          <p:nvPr>
            <p:ph idx="1"/>
          </p:nvPr>
        </p:nvSpPr>
        <p:spPr/>
        <p:txBody>
          <a:bodyPr/>
          <a:lstStyle/>
          <a:p>
            <a:r>
              <a:rPr lang="en-GB" dirty="0"/>
              <a:t>Vague direction</a:t>
            </a:r>
          </a:p>
          <a:p>
            <a:r>
              <a:rPr lang="en-GB" dirty="0"/>
              <a:t>Unformatted output</a:t>
            </a:r>
          </a:p>
          <a:p>
            <a:r>
              <a:rPr lang="en-GB" dirty="0"/>
              <a:t>Missing examples</a:t>
            </a:r>
          </a:p>
          <a:p>
            <a:r>
              <a:rPr lang="en-GB" dirty="0"/>
              <a:t>Limited evaluation</a:t>
            </a:r>
          </a:p>
          <a:p>
            <a:r>
              <a:rPr lang="en-GB" dirty="0"/>
              <a:t>No task division</a:t>
            </a:r>
          </a:p>
        </p:txBody>
      </p:sp>
    </p:spTree>
    <p:extLst>
      <p:ext uri="{BB962C8B-B14F-4D97-AF65-F5344CB8AC3E}">
        <p14:creationId xmlns:p14="http://schemas.microsoft.com/office/powerpoint/2010/main" val="83124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83EE2-E2E8-025E-EF5B-197CF9C6178A}"/>
              </a:ext>
            </a:extLst>
          </p:cNvPr>
          <p:cNvSpPr>
            <a:spLocks noGrp="1"/>
          </p:cNvSpPr>
          <p:nvPr>
            <p:ph type="title"/>
          </p:nvPr>
        </p:nvSpPr>
        <p:spPr/>
        <p:txBody>
          <a:bodyPr/>
          <a:lstStyle/>
          <a:p>
            <a:r>
              <a:rPr lang="en-GB" dirty="0"/>
              <a:t>Vague direction</a:t>
            </a:r>
            <a:br>
              <a:rPr lang="en-GB" dirty="0"/>
            </a:br>
            <a:endParaRPr lang="en-GB" dirty="0"/>
          </a:p>
        </p:txBody>
      </p:sp>
      <p:sp>
        <p:nvSpPr>
          <p:cNvPr id="3" name="Content Placeholder 2">
            <a:extLst>
              <a:ext uri="{FF2B5EF4-FFF2-40B4-BE49-F238E27FC236}">
                <a16:creationId xmlns:a16="http://schemas.microsoft.com/office/drawing/2014/main" id="{C652073D-8280-C787-5D17-362BFDFA5914}"/>
              </a:ext>
            </a:extLst>
          </p:cNvPr>
          <p:cNvSpPr>
            <a:spLocks noGrp="1"/>
          </p:cNvSpPr>
          <p:nvPr>
            <p:ph idx="1"/>
          </p:nvPr>
        </p:nvSpPr>
        <p:spPr/>
        <p:txBody>
          <a:bodyPr/>
          <a:lstStyle/>
          <a:p>
            <a:r>
              <a:rPr lang="en-GB" dirty="0"/>
              <a:t>You’re not briefing the AI on what style of name you want, or what attributes it should have. </a:t>
            </a:r>
          </a:p>
          <a:p>
            <a:r>
              <a:rPr lang="en-GB" dirty="0"/>
              <a:t>Do you want a single word or a concatenation? </a:t>
            </a:r>
          </a:p>
          <a:p>
            <a:r>
              <a:rPr lang="en-GB" dirty="0"/>
              <a:t>Can the words be made up, or is it important that they’re in real English? </a:t>
            </a:r>
          </a:p>
          <a:p>
            <a:r>
              <a:rPr lang="en-GB" dirty="0"/>
              <a:t>Should the name be based on or influenced by someone you admire?</a:t>
            </a:r>
          </a:p>
          <a:p>
            <a:r>
              <a:rPr lang="en-GB" dirty="0"/>
              <a:t>Should the name have a cultural importance?</a:t>
            </a:r>
          </a:p>
        </p:txBody>
      </p:sp>
    </p:spTree>
    <p:extLst>
      <p:ext uri="{BB962C8B-B14F-4D97-AF65-F5344CB8AC3E}">
        <p14:creationId xmlns:p14="http://schemas.microsoft.com/office/powerpoint/2010/main" val="37612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7B32-E395-15A5-0E16-0DBF2A97CB87}"/>
              </a:ext>
            </a:extLst>
          </p:cNvPr>
          <p:cNvSpPr>
            <a:spLocks noGrp="1"/>
          </p:cNvSpPr>
          <p:nvPr>
            <p:ph type="title"/>
          </p:nvPr>
        </p:nvSpPr>
        <p:spPr/>
        <p:txBody>
          <a:bodyPr/>
          <a:lstStyle/>
          <a:p>
            <a:r>
              <a:rPr lang="en-GB" dirty="0"/>
              <a:t>Unformatted output</a:t>
            </a:r>
          </a:p>
        </p:txBody>
      </p:sp>
      <p:sp>
        <p:nvSpPr>
          <p:cNvPr id="3" name="Content Placeholder 2">
            <a:extLst>
              <a:ext uri="{FF2B5EF4-FFF2-40B4-BE49-F238E27FC236}">
                <a16:creationId xmlns:a16="http://schemas.microsoft.com/office/drawing/2014/main" id="{8BE58D27-7BC9-D7F2-F5BB-3F61FC29BAB5}"/>
              </a:ext>
            </a:extLst>
          </p:cNvPr>
          <p:cNvSpPr>
            <a:spLocks noGrp="1"/>
          </p:cNvSpPr>
          <p:nvPr>
            <p:ph idx="1"/>
          </p:nvPr>
        </p:nvSpPr>
        <p:spPr/>
        <p:txBody>
          <a:bodyPr/>
          <a:lstStyle/>
          <a:p>
            <a:r>
              <a:rPr lang="en-GB" dirty="0"/>
              <a:t>You’re getting back a list of separated names line by line, of unspecified length. </a:t>
            </a:r>
          </a:p>
          <a:p>
            <a:r>
              <a:rPr lang="en-GB" dirty="0"/>
              <a:t>When you run this prompt sometimes it comes back with a numbered list, and often it has text at the beginning, which makes it hard to parse programmatically.</a:t>
            </a:r>
          </a:p>
          <a:p>
            <a:r>
              <a:rPr lang="en-GB" dirty="0"/>
              <a:t>If the output is formatted such as in JSON, it can become easy to parse</a:t>
            </a:r>
          </a:p>
        </p:txBody>
      </p:sp>
    </p:spTree>
    <p:extLst>
      <p:ext uri="{BB962C8B-B14F-4D97-AF65-F5344CB8AC3E}">
        <p14:creationId xmlns:p14="http://schemas.microsoft.com/office/powerpoint/2010/main" val="195091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38D3-BD88-0A04-2FCC-0AE54E9AD20C}"/>
              </a:ext>
            </a:extLst>
          </p:cNvPr>
          <p:cNvSpPr>
            <a:spLocks noGrp="1"/>
          </p:cNvSpPr>
          <p:nvPr>
            <p:ph type="title"/>
          </p:nvPr>
        </p:nvSpPr>
        <p:spPr/>
        <p:txBody>
          <a:bodyPr/>
          <a:lstStyle/>
          <a:p>
            <a:r>
              <a:rPr lang="en-GB" dirty="0"/>
              <a:t>Missing examples</a:t>
            </a:r>
            <a:br>
              <a:rPr lang="en-GB" dirty="0"/>
            </a:br>
            <a:endParaRPr lang="en-GB" dirty="0"/>
          </a:p>
        </p:txBody>
      </p:sp>
      <p:sp>
        <p:nvSpPr>
          <p:cNvPr id="3" name="Content Placeholder 2">
            <a:extLst>
              <a:ext uri="{FF2B5EF4-FFF2-40B4-BE49-F238E27FC236}">
                <a16:creationId xmlns:a16="http://schemas.microsoft.com/office/drawing/2014/main" id="{50D688CB-4CA8-1F9B-EA8A-5E19F889E9EA}"/>
              </a:ext>
            </a:extLst>
          </p:cNvPr>
          <p:cNvSpPr>
            <a:spLocks noGrp="1"/>
          </p:cNvSpPr>
          <p:nvPr>
            <p:ph idx="1"/>
          </p:nvPr>
        </p:nvSpPr>
        <p:spPr/>
        <p:txBody>
          <a:bodyPr/>
          <a:lstStyle/>
          <a:p>
            <a:r>
              <a:rPr lang="en-GB" dirty="0"/>
              <a:t>You haven’t given the AI any examples of what good names look like. </a:t>
            </a:r>
          </a:p>
          <a:p>
            <a:r>
              <a:rPr lang="en-GB" dirty="0"/>
              <a:t>It’s autocompleting using an average of its training data, i.e., the entire internet (with all its inherent bias)</a:t>
            </a:r>
          </a:p>
          <a:p>
            <a:r>
              <a:rPr lang="en-GB" dirty="0"/>
              <a:t>Ideally, you would feed it examples of successful names, common names in an industry, or even just other names you like.</a:t>
            </a:r>
          </a:p>
          <a:p>
            <a:r>
              <a:rPr lang="en-GB" dirty="0"/>
              <a:t>Examples help steer the AI in a direction you want, and it gives more meaningful output</a:t>
            </a:r>
          </a:p>
        </p:txBody>
      </p:sp>
    </p:spTree>
    <p:extLst>
      <p:ext uri="{BB962C8B-B14F-4D97-AF65-F5344CB8AC3E}">
        <p14:creationId xmlns:p14="http://schemas.microsoft.com/office/powerpoint/2010/main" val="942143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B591D-53AB-1148-5979-F7DBE88D8A31}"/>
              </a:ext>
            </a:extLst>
          </p:cNvPr>
          <p:cNvSpPr>
            <a:spLocks noGrp="1"/>
          </p:cNvSpPr>
          <p:nvPr>
            <p:ph type="title"/>
          </p:nvPr>
        </p:nvSpPr>
        <p:spPr/>
        <p:txBody>
          <a:bodyPr/>
          <a:lstStyle/>
          <a:p>
            <a:r>
              <a:rPr lang="en-GB" dirty="0"/>
              <a:t>Limited evaluation</a:t>
            </a:r>
            <a:br>
              <a:rPr lang="en-GB" dirty="0"/>
            </a:br>
            <a:endParaRPr lang="en-GB" dirty="0"/>
          </a:p>
        </p:txBody>
      </p:sp>
      <p:sp>
        <p:nvSpPr>
          <p:cNvPr id="3" name="Content Placeholder 2">
            <a:extLst>
              <a:ext uri="{FF2B5EF4-FFF2-40B4-BE49-F238E27FC236}">
                <a16:creationId xmlns:a16="http://schemas.microsoft.com/office/drawing/2014/main" id="{294A8F60-488D-190A-E409-80963D1632A9}"/>
              </a:ext>
            </a:extLst>
          </p:cNvPr>
          <p:cNvSpPr>
            <a:spLocks noGrp="1"/>
          </p:cNvSpPr>
          <p:nvPr>
            <p:ph idx="1"/>
          </p:nvPr>
        </p:nvSpPr>
        <p:spPr/>
        <p:txBody>
          <a:bodyPr/>
          <a:lstStyle/>
          <a:p>
            <a:r>
              <a:rPr lang="en-GB" dirty="0"/>
              <a:t>You have no consistent or scalable way to define which names are good or bad, so you have to manually review each response. </a:t>
            </a:r>
          </a:p>
          <a:p>
            <a:r>
              <a:rPr lang="en-GB" dirty="0"/>
              <a:t>If you can institute a rating system or other form of measurement, you can optimize the prompt to get better results and identify how many times it fails</a:t>
            </a:r>
          </a:p>
        </p:txBody>
      </p:sp>
    </p:spTree>
    <p:extLst>
      <p:ext uri="{BB962C8B-B14F-4D97-AF65-F5344CB8AC3E}">
        <p14:creationId xmlns:p14="http://schemas.microsoft.com/office/powerpoint/2010/main" val="2291239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0A35-AAFF-F166-C573-DC5FF8472DCE}"/>
              </a:ext>
            </a:extLst>
          </p:cNvPr>
          <p:cNvSpPr>
            <a:spLocks noGrp="1"/>
          </p:cNvSpPr>
          <p:nvPr>
            <p:ph type="title"/>
          </p:nvPr>
        </p:nvSpPr>
        <p:spPr/>
        <p:txBody>
          <a:bodyPr/>
          <a:lstStyle/>
          <a:p>
            <a:r>
              <a:rPr lang="en-GB" dirty="0"/>
              <a:t>No task division</a:t>
            </a:r>
            <a:br>
              <a:rPr lang="en-GB" dirty="0"/>
            </a:br>
            <a:endParaRPr lang="en-GB" dirty="0"/>
          </a:p>
        </p:txBody>
      </p:sp>
      <p:sp>
        <p:nvSpPr>
          <p:cNvPr id="3" name="Content Placeholder 2">
            <a:extLst>
              <a:ext uri="{FF2B5EF4-FFF2-40B4-BE49-F238E27FC236}">
                <a16:creationId xmlns:a16="http://schemas.microsoft.com/office/drawing/2014/main" id="{962DB72B-DC10-31AE-B0A4-562B7926DB30}"/>
              </a:ext>
            </a:extLst>
          </p:cNvPr>
          <p:cNvSpPr>
            <a:spLocks noGrp="1"/>
          </p:cNvSpPr>
          <p:nvPr>
            <p:ph idx="1"/>
          </p:nvPr>
        </p:nvSpPr>
        <p:spPr/>
        <p:txBody>
          <a:bodyPr/>
          <a:lstStyle/>
          <a:p>
            <a:r>
              <a:rPr lang="en-GB" dirty="0"/>
              <a:t>You’re asking a lot of a single prompt here: </a:t>
            </a:r>
          </a:p>
          <a:p>
            <a:r>
              <a:rPr lang="en-GB" dirty="0"/>
              <a:t>There are lots of factors that go into product naming, and this important task is being naively outsourced to the AI all in one go, with no task specialization or visibility into how it’s handling this task for you.</a:t>
            </a:r>
          </a:p>
          <a:p>
            <a:r>
              <a:rPr lang="en-GB" dirty="0"/>
              <a:t>If you give it a series of steps to follow to arrive at a conclusion, it will build up a name by following that criteria</a:t>
            </a:r>
          </a:p>
        </p:txBody>
      </p:sp>
    </p:spTree>
    <p:extLst>
      <p:ext uri="{BB962C8B-B14F-4D97-AF65-F5344CB8AC3E}">
        <p14:creationId xmlns:p14="http://schemas.microsoft.com/office/powerpoint/2010/main" val="3496584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A21E-EAD2-0930-5F45-A0AD95CC8D21}"/>
              </a:ext>
            </a:extLst>
          </p:cNvPr>
          <p:cNvSpPr>
            <a:spLocks noGrp="1"/>
          </p:cNvSpPr>
          <p:nvPr>
            <p:ph type="title"/>
          </p:nvPr>
        </p:nvSpPr>
        <p:spPr/>
        <p:txBody>
          <a:bodyPr/>
          <a:lstStyle/>
          <a:p>
            <a:r>
              <a:rPr lang="en-GB" dirty="0"/>
              <a:t>Average Prompts </a:t>
            </a:r>
            <a:r>
              <a:rPr lang="en-GB" dirty="0">
                <a:sym typeface="Wingdings" panose="05000000000000000000" pitchFamily="2" charset="2"/>
              </a:rPr>
              <a:t></a:t>
            </a:r>
            <a:r>
              <a:rPr lang="en-GB" dirty="0"/>
              <a:t> Average Responses</a:t>
            </a:r>
          </a:p>
        </p:txBody>
      </p:sp>
      <p:sp>
        <p:nvSpPr>
          <p:cNvPr id="3" name="Content Placeholder 2">
            <a:extLst>
              <a:ext uri="{FF2B5EF4-FFF2-40B4-BE49-F238E27FC236}">
                <a16:creationId xmlns:a16="http://schemas.microsoft.com/office/drawing/2014/main" id="{21CBBB1A-2AA1-9581-8274-4C417AB32B52}"/>
              </a:ext>
            </a:extLst>
          </p:cNvPr>
          <p:cNvSpPr>
            <a:spLocks noGrp="1"/>
          </p:cNvSpPr>
          <p:nvPr>
            <p:ph idx="1"/>
          </p:nvPr>
        </p:nvSpPr>
        <p:spPr/>
        <p:txBody>
          <a:bodyPr/>
          <a:lstStyle/>
          <a:p>
            <a:r>
              <a:rPr lang="en-GB" dirty="0"/>
              <a:t>LLMs work by continuously predicting the next token (approximately three-fourths of a word), starting from what was in your prompt. </a:t>
            </a:r>
          </a:p>
          <a:p>
            <a:r>
              <a:rPr lang="en-GB" dirty="0"/>
              <a:t>Each new token is selected based on its probability of appearing next, with an element of randomness.</a:t>
            </a:r>
          </a:p>
          <a:p>
            <a:r>
              <a:rPr lang="en-GB" dirty="0"/>
              <a:t>Average prompts will return average responses, leading to underwhelming results. </a:t>
            </a:r>
          </a:p>
          <a:p>
            <a:r>
              <a:rPr lang="en-GB" dirty="0"/>
              <a:t>What you put in your prompt changes the probability of every word generated, so it matters a great deal to the results you’ll get.</a:t>
            </a:r>
          </a:p>
        </p:txBody>
      </p:sp>
    </p:spTree>
    <p:extLst>
      <p:ext uri="{BB962C8B-B14F-4D97-AF65-F5344CB8AC3E}">
        <p14:creationId xmlns:p14="http://schemas.microsoft.com/office/powerpoint/2010/main" val="933007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93CB8-3AA6-E97E-A22B-9505C75D6CFD}"/>
              </a:ext>
            </a:extLst>
          </p:cNvPr>
          <p:cNvSpPr>
            <a:spLocks noGrp="1"/>
          </p:cNvSpPr>
          <p:nvPr>
            <p:ph type="title"/>
          </p:nvPr>
        </p:nvSpPr>
        <p:spPr/>
        <p:txBody>
          <a:bodyPr/>
          <a:lstStyle/>
          <a:p>
            <a:r>
              <a:rPr lang="en-GB" dirty="0"/>
              <a:t>Cost of Prompting</a:t>
            </a:r>
          </a:p>
        </p:txBody>
      </p:sp>
      <p:sp>
        <p:nvSpPr>
          <p:cNvPr id="3" name="Content Placeholder 2">
            <a:extLst>
              <a:ext uri="{FF2B5EF4-FFF2-40B4-BE49-F238E27FC236}">
                <a16:creationId xmlns:a16="http://schemas.microsoft.com/office/drawing/2014/main" id="{E3242951-CE2A-4AB6-D8D6-8BD7B6C2B632}"/>
              </a:ext>
            </a:extLst>
          </p:cNvPr>
          <p:cNvSpPr>
            <a:spLocks noGrp="1"/>
          </p:cNvSpPr>
          <p:nvPr>
            <p:ph idx="1"/>
          </p:nvPr>
        </p:nvSpPr>
        <p:spPr/>
        <p:txBody>
          <a:bodyPr/>
          <a:lstStyle/>
          <a:p>
            <a:r>
              <a:rPr lang="en-GB" dirty="0"/>
              <a:t>OpenAI charges based on the number of tokens used in the prompt and the response, so prompt engineers need to make these tokens count by optimizing prompts for cost, quality, and reliability.</a:t>
            </a:r>
          </a:p>
          <a:p>
            <a:r>
              <a:rPr lang="en-GB" dirty="0"/>
              <a:t>A good prompt helps in using less tokens overall and produces better results.</a:t>
            </a:r>
          </a:p>
        </p:txBody>
      </p:sp>
    </p:spTree>
    <p:extLst>
      <p:ext uri="{BB962C8B-B14F-4D97-AF65-F5344CB8AC3E}">
        <p14:creationId xmlns:p14="http://schemas.microsoft.com/office/powerpoint/2010/main" val="384804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90F1-6D0E-16D0-5916-D4BE08D437DC}"/>
              </a:ext>
            </a:extLst>
          </p:cNvPr>
          <p:cNvSpPr>
            <a:spLocks noGrp="1"/>
          </p:cNvSpPr>
          <p:nvPr>
            <p:ph type="title"/>
          </p:nvPr>
        </p:nvSpPr>
        <p:spPr/>
        <p:txBody>
          <a:bodyPr/>
          <a:lstStyle/>
          <a:p>
            <a:r>
              <a:rPr lang="en-GB" dirty="0"/>
              <a:t>Example of Better Prompt</a:t>
            </a:r>
          </a:p>
        </p:txBody>
      </p:sp>
      <p:sp>
        <p:nvSpPr>
          <p:cNvPr id="3" name="Content Placeholder 2">
            <a:extLst>
              <a:ext uri="{FF2B5EF4-FFF2-40B4-BE49-F238E27FC236}">
                <a16:creationId xmlns:a16="http://schemas.microsoft.com/office/drawing/2014/main" id="{33B67403-0FBB-6447-F456-E1292634A747}"/>
              </a:ext>
            </a:extLst>
          </p:cNvPr>
          <p:cNvSpPr>
            <a:spLocks noGrp="1"/>
          </p:cNvSpPr>
          <p:nvPr>
            <p:ph idx="1"/>
          </p:nvPr>
        </p:nvSpPr>
        <p:spPr>
          <a:xfrm>
            <a:off x="612647" y="1298448"/>
            <a:ext cx="10653579" cy="5202936"/>
          </a:xfrm>
        </p:spPr>
        <p:txBody>
          <a:bodyPr>
            <a:normAutofit/>
          </a:bodyPr>
          <a:lstStyle/>
          <a:p>
            <a:r>
              <a:rPr lang="en-GB" sz="1200" dirty="0"/>
              <a:t>Brainstorm a list of product names for a shoe that fits any foot size, in the style of Steve Jobs.</a:t>
            </a:r>
          </a:p>
          <a:p>
            <a:endParaRPr lang="en-GB" sz="1200" dirty="0"/>
          </a:p>
          <a:p>
            <a:r>
              <a:rPr lang="en-GB" sz="1200" dirty="0"/>
              <a:t>Return the results as a comma-separated list, in this format:</a:t>
            </a:r>
          </a:p>
          <a:p>
            <a:r>
              <a:rPr lang="en-GB" sz="1200" dirty="0"/>
              <a:t>Product description: A shoe that fits any foot size</a:t>
            </a:r>
          </a:p>
          <a:p>
            <a:r>
              <a:rPr lang="en-GB" sz="1200" dirty="0"/>
              <a:t>Product names: [list of 3 product names]</a:t>
            </a:r>
          </a:p>
          <a:p>
            <a:endParaRPr lang="en-GB" sz="1200" dirty="0"/>
          </a:p>
          <a:p>
            <a:r>
              <a:rPr lang="en-GB" sz="1200" dirty="0"/>
              <a:t>## Examples</a:t>
            </a:r>
          </a:p>
          <a:p>
            <a:r>
              <a:rPr lang="en-GB" sz="1200" dirty="0"/>
              <a:t>Product description: A refrigerator that dispenses beer</a:t>
            </a:r>
          </a:p>
          <a:p>
            <a:r>
              <a:rPr lang="en-GB" sz="1200" dirty="0"/>
              <a:t>Product names: </a:t>
            </a:r>
            <a:r>
              <a:rPr lang="en-GB" sz="1200" dirty="0" err="1"/>
              <a:t>iBarFridge</a:t>
            </a:r>
            <a:r>
              <a:rPr lang="en-GB" sz="1200" dirty="0"/>
              <a:t>, </a:t>
            </a:r>
            <a:r>
              <a:rPr lang="en-GB" sz="1200" dirty="0" err="1"/>
              <a:t>iFridgeBeer</a:t>
            </a:r>
            <a:r>
              <a:rPr lang="en-GB" sz="1200" dirty="0"/>
              <a:t>, </a:t>
            </a:r>
            <a:r>
              <a:rPr lang="en-GB" sz="1200" dirty="0" err="1"/>
              <a:t>iDrinkBeerFridge</a:t>
            </a:r>
            <a:endParaRPr lang="en-GB" sz="1200" dirty="0"/>
          </a:p>
          <a:p>
            <a:endParaRPr lang="en-GB" sz="1200" dirty="0"/>
          </a:p>
          <a:p>
            <a:r>
              <a:rPr lang="en-GB" sz="1200" dirty="0"/>
              <a:t>Product description: A watch that can tell accurate time in space</a:t>
            </a:r>
          </a:p>
          <a:p>
            <a:r>
              <a:rPr lang="en-GB" sz="1200" dirty="0"/>
              <a:t>Product names: </a:t>
            </a:r>
            <a:r>
              <a:rPr lang="en-GB" sz="1200" dirty="0" err="1"/>
              <a:t>iNaut</a:t>
            </a:r>
            <a:r>
              <a:rPr lang="en-GB" sz="1200" dirty="0"/>
              <a:t>, iSpace, </a:t>
            </a:r>
            <a:r>
              <a:rPr lang="en-GB" sz="1200" dirty="0" err="1"/>
              <a:t>iTime</a:t>
            </a:r>
            <a:endParaRPr lang="en-GB" sz="1200" dirty="0"/>
          </a:p>
          <a:p>
            <a:endParaRPr lang="en-GB" sz="1200" dirty="0"/>
          </a:p>
          <a:p>
            <a:r>
              <a:rPr lang="en-GB" sz="1200" dirty="0"/>
              <a:t>Product description: A home milkshake maker</a:t>
            </a:r>
          </a:p>
          <a:p>
            <a:r>
              <a:rPr lang="en-GB" sz="1200" dirty="0"/>
              <a:t>Product names: </a:t>
            </a:r>
            <a:r>
              <a:rPr lang="en-GB" sz="1200" dirty="0" err="1"/>
              <a:t>iShake</a:t>
            </a:r>
            <a:r>
              <a:rPr lang="en-GB" sz="1200" dirty="0"/>
              <a:t>, </a:t>
            </a:r>
            <a:r>
              <a:rPr lang="en-GB" sz="1200" dirty="0" err="1"/>
              <a:t>iSmoothie</a:t>
            </a:r>
            <a:r>
              <a:rPr lang="en-GB" sz="1200" dirty="0"/>
              <a:t>, </a:t>
            </a:r>
            <a:r>
              <a:rPr lang="en-GB" sz="1200" dirty="0" err="1"/>
              <a:t>iShake</a:t>
            </a:r>
            <a:r>
              <a:rPr lang="en-GB" sz="1200" dirty="0"/>
              <a:t> Mini</a:t>
            </a:r>
          </a:p>
        </p:txBody>
      </p:sp>
    </p:spTree>
    <p:extLst>
      <p:ext uri="{BB962C8B-B14F-4D97-AF65-F5344CB8AC3E}">
        <p14:creationId xmlns:p14="http://schemas.microsoft.com/office/powerpoint/2010/main" val="3666848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B4A8B-2B05-1949-2295-F01472C70410}"/>
              </a:ext>
            </a:extLst>
          </p:cNvPr>
          <p:cNvSpPr>
            <a:spLocks noGrp="1"/>
          </p:cNvSpPr>
          <p:nvPr>
            <p:ph type="title"/>
          </p:nvPr>
        </p:nvSpPr>
        <p:spPr/>
        <p:txBody>
          <a:bodyPr/>
          <a:lstStyle/>
          <a:p>
            <a:r>
              <a:rPr lang="en-GB" dirty="0"/>
              <a:t>Output</a:t>
            </a:r>
          </a:p>
        </p:txBody>
      </p:sp>
      <p:sp>
        <p:nvSpPr>
          <p:cNvPr id="3" name="Content Placeholder 2">
            <a:extLst>
              <a:ext uri="{FF2B5EF4-FFF2-40B4-BE49-F238E27FC236}">
                <a16:creationId xmlns:a16="http://schemas.microsoft.com/office/drawing/2014/main" id="{F90E8D04-20C3-36F2-9C17-00159D2E4886}"/>
              </a:ext>
            </a:extLst>
          </p:cNvPr>
          <p:cNvSpPr>
            <a:spLocks noGrp="1"/>
          </p:cNvSpPr>
          <p:nvPr>
            <p:ph idx="1"/>
          </p:nvPr>
        </p:nvSpPr>
        <p:spPr/>
        <p:txBody>
          <a:bodyPr/>
          <a:lstStyle/>
          <a:p>
            <a:r>
              <a:rPr lang="en-GB" dirty="0"/>
              <a:t>Product description: A shoe that fits any foot size</a:t>
            </a:r>
          </a:p>
          <a:p>
            <a:r>
              <a:rPr lang="en-GB" dirty="0"/>
              <a:t>Product names: </a:t>
            </a:r>
            <a:r>
              <a:rPr lang="en-GB" dirty="0" err="1"/>
              <a:t>iFitFoot</a:t>
            </a:r>
            <a:r>
              <a:rPr lang="en-GB" dirty="0"/>
              <a:t>, </a:t>
            </a:r>
            <a:r>
              <a:rPr lang="en-GB" dirty="0" err="1"/>
              <a:t>iPerfectFit</a:t>
            </a:r>
            <a:r>
              <a:rPr lang="en-GB" dirty="0"/>
              <a:t>, </a:t>
            </a:r>
            <a:r>
              <a:rPr lang="en-GB" dirty="0" err="1"/>
              <a:t>iShoeSize</a:t>
            </a:r>
            <a:endParaRPr lang="en-GB" dirty="0"/>
          </a:p>
          <a:p>
            <a:endParaRPr lang="en-GB" dirty="0"/>
          </a:p>
          <a:p>
            <a:r>
              <a:rPr lang="en-GB" dirty="0"/>
              <a:t>While no prompt is ever perfect, this prompt is optimized to reliably deliver solid product names in the right format. </a:t>
            </a:r>
          </a:p>
          <a:p>
            <a:r>
              <a:rPr lang="en-GB" dirty="0"/>
              <a:t>Finally, you could periodically update the examples you use in the prompt based on user feedback, making your system smarter over time.</a:t>
            </a:r>
          </a:p>
          <a:p>
            <a:r>
              <a:rPr lang="en-GB" dirty="0"/>
              <a:t>You however need to be intelligent about it as well, the ‘</a:t>
            </a:r>
            <a:r>
              <a:rPr lang="en-GB" dirty="0" err="1"/>
              <a:t>i</a:t>
            </a:r>
            <a:r>
              <a:rPr lang="en-GB" dirty="0"/>
              <a:t>’ in iPhone stands for internet, so putting an ‘</a:t>
            </a:r>
            <a:r>
              <a:rPr lang="en-GB" dirty="0" err="1"/>
              <a:t>i</a:t>
            </a:r>
            <a:r>
              <a:rPr lang="en-GB" dirty="0"/>
              <a:t>’ there seems unnecessary.  </a:t>
            </a:r>
          </a:p>
        </p:txBody>
      </p:sp>
    </p:spTree>
    <p:extLst>
      <p:ext uri="{BB962C8B-B14F-4D97-AF65-F5344CB8AC3E}">
        <p14:creationId xmlns:p14="http://schemas.microsoft.com/office/powerpoint/2010/main" val="2356196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17592-9C6C-A67A-37D7-6BBF905B461F}"/>
              </a:ext>
            </a:extLst>
          </p:cNvPr>
          <p:cNvSpPr>
            <a:spLocks noGrp="1"/>
          </p:cNvSpPr>
          <p:nvPr>
            <p:ph type="title"/>
          </p:nvPr>
        </p:nvSpPr>
        <p:spPr/>
        <p:txBody>
          <a:bodyPr/>
          <a:lstStyle/>
          <a:p>
            <a:r>
              <a:rPr lang="en-GB" dirty="0"/>
              <a:t>Five Principles of Prompting</a:t>
            </a:r>
          </a:p>
        </p:txBody>
      </p:sp>
      <p:sp>
        <p:nvSpPr>
          <p:cNvPr id="3" name="Content Placeholder 2">
            <a:extLst>
              <a:ext uri="{FF2B5EF4-FFF2-40B4-BE49-F238E27FC236}">
                <a16:creationId xmlns:a16="http://schemas.microsoft.com/office/drawing/2014/main" id="{D426B9C7-CF61-E304-36E6-EE586CF4A5BA}"/>
              </a:ext>
            </a:extLst>
          </p:cNvPr>
          <p:cNvSpPr>
            <a:spLocks noGrp="1"/>
          </p:cNvSpPr>
          <p:nvPr>
            <p:ph idx="1"/>
          </p:nvPr>
        </p:nvSpPr>
        <p:spPr/>
        <p:txBody>
          <a:bodyPr>
            <a:normAutofit/>
          </a:bodyPr>
          <a:lstStyle/>
          <a:p>
            <a:pPr marL="457200" indent="-457200">
              <a:buFont typeface="+mj-lt"/>
              <a:buAutoNum type="arabicPeriod"/>
            </a:pPr>
            <a:r>
              <a:rPr lang="en-GB" b="1" dirty="0"/>
              <a:t>Give Direction</a:t>
            </a:r>
          </a:p>
          <a:p>
            <a:pPr lvl="1">
              <a:buFont typeface="Wingdings" panose="05000000000000000000" pitchFamily="2" charset="2"/>
              <a:buChar char="§"/>
            </a:pPr>
            <a:r>
              <a:rPr lang="en-GB" dirty="0"/>
              <a:t>Describe the desired style in detail, or reference a relevant persona</a:t>
            </a:r>
            <a:endParaRPr lang="en-GB" b="1" dirty="0"/>
          </a:p>
          <a:p>
            <a:pPr marL="457200" indent="-457200">
              <a:buFont typeface="+mj-lt"/>
              <a:buAutoNum type="arabicPeriod"/>
            </a:pPr>
            <a:r>
              <a:rPr lang="en-GB" b="1" dirty="0"/>
              <a:t>Specify Format</a:t>
            </a:r>
          </a:p>
          <a:p>
            <a:pPr lvl="1">
              <a:buFont typeface="Wingdings" panose="05000000000000000000" pitchFamily="2" charset="2"/>
              <a:buChar char="§"/>
            </a:pPr>
            <a:r>
              <a:rPr lang="en-GB" dirty="0"/>
              <a:t>Define what rules to follow, and the required structure of the response</a:t>
            </a:r>
            <a:endParaRPr lang="en-GB" b="1" dirty="0"/>
          </a:p>
          <a:p>
            <a:pPr marL="457200" indent="-457200">
              <a:buFont typeface="+mj-lt"/>
              <a:buAutoNum type="arabicPeriod"/>
            </a:pPr>
            <a:r>
              <a:rPr lang="en-GB" b="1" dirty="0"/>
              <a:t>Provide Examples</a:t>
            </a:r>
          </a:p>
          <a:p>
            <a:pPr lvl="1">
              <a:buFont typeface="Wingdings" panose="05000000000000000000" pitchFamily="2" charset="2"/>
              <a:buChar char="§"/>
            </a:pPr>
            <a:r>
              <a:rPr lang="en-GB" dirty="0"/>
              <a:t>Insert a diverse set of test cases where the task was done correctly</a:t>
            </a:r>
            <a:endParaRPr lang="en-GB" b="1" dirty="0"/>
          </a:p>
          <a:p>
            <a:pPr marL="457200" indent="-457200">
              <a:buFont typeface="+mj-lt"/>
              <a:buAutoNum type="arabicPeriod"/>
            </a:pPr>
            <a:r>
              <a:rPr lang="en-GB" b="1" dirty="0"/>
              <a:t>Evaluate Quality</a:t>
            </a:r>
          </a:p>
          <a:p>
            <a:pPr lvl="1">
              <a:buFont typeface="Wingdings" panose="05000000000000000000" pitchFamily="2" charset="2"/>
              <a:buChar char="§"/>
            </a:pPr>
            <a:r>
              <a:rPr lang="en-GB" dirty="0"/>
              <a:t>Identify errors and rate responses, testing what drives performance.</a:t>
            </a:r>
          </a:p>
          <a:p>
            <a:pPr marL="457200" indent="-457200">
              <a:buFont typeface="+mj-lt"/>
              <a:buAutoNum type="arabicPeriod"/>
            </a:pPr>
            <a:r>
              <a:rPr lang="en-GB" b="1" dirty="0"/>
              <a:t>Divide Labor</a:t>
            </a:r>
          </a:p>
          <a:p>
            <a:pPr lvl="1">
              <a:buFont typeface="Wingdings" panose="05000000000000000000" pitchFamily="2" charset="2"/>
              <a:buChar char="§"/>
            </a:pPr>
            <a:r>
              <a:rPr lang="en-GB" dirty="0"/>
              <a:t>Split tasks into multiple steps, chained together for complex goal</a:t>
            </a:r>
          </a:p>
        </p:txBody>
      </p:sp>
    </p:spTree>
    <p:extLst>
      <p:ext uri="{BB962C8B-B14F-4D97-AF65-F5344CB8AC3E}">
        <p14:creationId xmlns:p14="http://schemas.microsoft.com/office/powerpoint/2010/main" val="2755286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0CC4-743E-59A1-E5AF-23E829D16508}"/>
              </a:ext>
            </a:extLst>
          </p:cNvPr>
          <p:cNvSpPr>
            <a:spLocks noGrp="1"/>
          </p:cNvSpPr>
          <p:nvPr>
            <p:ph type="title"/>
          </p:nvPr>
        </p:nvSpPr>
        <p:spPr/>
        <p:txBody>
          <a:bodyPr/>
          <a:lstStyle/>
          <a:p>
            <a:r>
              <a:rPr lang="en-GB" dirty="0"/>
              <a:t>Downloadable one-pagers for text and image generation</a:t>
            </a:r>
          </a:p>
        </p:txBody>
      </p:sp>
      <p:graphicFrame>
        <p:nvGraphicFramePr>
          <p:cNvPr id="4" name="Content Placeholder 3">
            <a:extLst>
              <a:ext uri="{FF2B5EF4-FFF2-40B4-BE49-F238E27FC236}">
                <a16:creationId xmlns:a16="http://schemas.microsoft.com/office/drawing/2014/main" id="{C714D0AD-5940-D512-5987-50B2B238E151}"/>
              </a:ext>
            </a:extLst>
          </p:cNvPr>
          <p:cNvGraphicFramePr>
            <a:graphicFrameLocks noGrp="1"/>
          </p:cNvGraphicFramePr>
          <p:nvPr>
            <p:ph idx="1"/>
            <p:extLst>
              <p:ext uri="{D42A27DB-BD31-4B8C-83A1-F6EECF244321}">
                <p14:modId xmlns:p14="http://schemas.microsoft.com/office/powerpoint/2010/main" val="1440124441"/>
              </p:ext>
            </p:extLst>
          </p:nvPr>
        </p:nvGraphicFramePr>
        <p:xfrm>
          <a:off x="612775" y="1716088"/>
          <a:ext cx="10653712" cy="741680"/>
        </p:xfrm>
        <a:graphic>
          <a:graphicData uri="http://schemas.openxmlformats.org/drawingml/2006/table">
            <a:tbl>
              <a:tblPr firstRow="1" bandRow="1">
                <a:tableStyleId>{2D5ABB26-0587-4C30-8999-92F81FD0307C}</a:tableStyleId>
              </a:tblPr>
              <a:tblGrid>
                <a:gridCol w="5326856">
                  <a:extLst>
                    <a:ext uri="{9D8B030D-6E8A-4147-A177-3AD203B41FA5}">
                      <a16:colId xmlns:a16="http://schemas.microsoft.com/office/drawing/2014/main" val="2204640592"/>
                    </a:ext>
                  </a:extLst>
                </a:gridCol>
                <a:gridCol w="5326856">
                  <a:extLst>
                    <a:ext uri="{9D8B030D-6E8A-4147-A177-3AD203B41FA5}">
                      <a16:colId xmlns:a16="http://schemas.microsoft.com/office/drawing/2014/main" val="302645385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sng" kern="1200" dirty="0">
                          <a:solidFill>
                            <a:schemeClr val="tx1"/>
                          </a:solidFill>
                          <a:effectLst/>
                          <a:latin typeface="+mn-lt"/>
                          <a:ea typeface="+mn-ea"/>
                          <a:cs typeface="+mn-cs"/>
                          <a:hlinkClick r:id="rId2"/>
                        </a:rPr>
                        <a:t>Text Generation One-Pager</a:t>
                      </a:r>
                      <a:endParaRPr lang="en-GB" sz="1800" b="0" i="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sng" kern="1200" dirty="0">
                          <a:solidFill>
                            <a:schemeClr val="tx1"/>
                          </a:solidFill>
                          <a:effectLst/>
                          <a:latin typeface="+mn-lt"/>
                          <a:ea typeface="+mn-ea"/>
                          <a:cs typeface="+mn-cs"/>
                          <a:hlinkClick r:id="rId3"/>
                        </a:rPr>
                        <a:t>Image Generation One-Pager</a:t>
                      </a:r>
                      <a:endParaRPr lang="en-GB" sz="1800" b="0" i="0" kern="1200" dirty="0">
                        <a:solidFill>
                          <a:schemeClr val="tx1"/>
                        </a:solidFill>
                        <a:effectLst/>
                        <a:latin typeface="+mn-lt"/>
                        <a:ea typeface="+mn-ea"/>
                        <a:cs typeface="+mn-cs"/>
                      </a:endParaRPr>
                    </a:p>
                  </a:txBody>
                  <a:tcPr/>
                </a:tc>
                <a:extLst>
                  <a:ext uri="{0D108BD9-81ED-4DB2-BD59-A6C34878D82A}">
                    <a16:rowId xmlns:a16="http://schemas.microsoft.com/office/drawing/2014/main" val="3448356670"/>
                  </a:ext>
                </a:extLst>
              </a:tr>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892717068"/>
                  </a:ext>
                </a:extLst>
              </a:tr>
            </a:tbl>
          </a:graphicData>
        </a:graphic>
      </p:graphicFrame>
      <p:pic>
        <p:nvPicPr>
          <p:cNvPr id="6" name="Picture 5" descr="A qr code with green dots&#10;&#10;AI-generated content may be incorrect.">
            <a:extLst>
              <a:ext uri="{FF2B5EF4-FFF2-40B4-BE49-F238E27FC236}">
                <a16:creationId xmlns:a16="http://schemas.microsoft.com/office/drawing/2014/main" id="{8E412E39-C816-32D8-D67B-559DA6C0CB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 y="2373630"/>
            <a:ext cx="3154680" cy="3154680"/>
          </a:xfrm>
          <a:prstGeom prst="rect">
            <a:avLst/>
          </a:prstGeom>
        </p:spPr>
      </p:pic>
      <p:pic>
        <p:nvPicPr>
          <p:cNvPr id="8" name="Picture 7">
            <a:extLst>
              <a:ext uri="{FF2B5EF4-FFF2-40B4-BE49-F238E27FC236}">
                <a16:creationId xmlns:a16="http://schemas.microsoft.com/office/drawing/2014/main" id="{1DF03CE9-6271-A247-91A9-DF00441AF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9437" y="2373630"/>
            <a:ext cx="3154680" cy="3154680"/>
          </a:xfrm>
          <a:prstGeom prst="rect">
            <a:avLst/>
          </a:prstGeom>
        </p:spPr>
      </p:pic>
    </p:spTree>
    <p:extLst>
      <p:ext uri="{BB962C8B-B14F-4D97-AF65-F5344CB8AC3E}">
        <p14:creationId xmlns:p14="http://schemas.microsoft.com/office/powerpoint/2010/main" val="875102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6881-0752-3D12-2073-0BC85074552C}"/>
              </a:ext>
            </a:extLst>
          </p:cNvPr>
          <p:cNvSpPr>
            <a:spLocks noGrp="1"/>
          </p:cNvSpPr>
          <p:nvPr>
            <p:ph type="title"/>
          </p:nvPr>
        </p:nvSpPr>
        <p:spPr/>
        <p:txBody>
          <a:bodyPr/>
          <a:lstStyle/>
          <a:p>
            <a:r>
              <a:rPr lang="en-GB" dirty="0"/>
              <a:t>Class Activity</a:t>
            </a:r>
          </a:p>
        </p:txBody>
      </p:sp>
      <p:sp>
        <p:nvSpPr>
          <p:cNvPr id="3" name="Content Placeholder 2">
            <a:extLst>
              <a:ext uri="{FF2B5EF4-FFF2-40B4-BE49-F238E27FC236}">
                <a16:creationId xmlns:a16="http://schemas.microsoft.com/office/drawing/2014/main" id="{C8BCF29E-9E40-6820-A15E-0EF712B0A785}"/>
              </a:ext>
            </a:extLst>
          </p:cNvPr>
          <p:cNvSpPr>
            <a:spLocks noGrp="1"/>
          </p:cNvSpPr>
          <p:nvPr>
            <p:ph idx="1"/>
          </p:nvPr>
        </p:nvSpPr>
        <p:spPr/>
        <p:txBody>
          <a:bodyPr/>
          <a:lstStyle/>
          <a:p>
            <a:r>
              <a:rPr lang="en-GB" dirty="0"/>
              <a:t>Use the one-pager prompt examples to generate text and image output of your choosing</a:t>
            </a:r>
          </a:p>
        </p:txBody>
      </p:sp>
      <p:pic>
        <p:nvPicPr>
          <p:cNvPr id="5" name="Graphic 4" descr="Alarm clock with solid fill">
            <a:extLst>
              <a:ext uri="{FF2B5EF4-FFF2-40B4-BE49-F238E27FC236}">
                <a16:creationId xmlns:a16="http://schemas.microsoft.com/office/drawing/2014/main" id="{644D3391-1036-FCAA-6333-F7E4C63AA5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8200" y="2764971"/>
            <a:ext cx="2895600" cy="2895600"/>
          </a:xfrm>
          <a:prstGeom prst="rect">
            <a:avLst/>
          </a:prstGeom>
        </p:spPr>
      </p:pic>
      <p:sp>
        <p:nvSpPr>
          <p:cNvPr id="6" name="TextBox 5">
            <a:extLst>
              <a:ext uri="{FF2B5EF4-FFF2-40B4-BE49-F238E27FC236}">
                <a16:creationId xmlns:a16="http://schemas.microsoft.com/office/drawing/2014/main" id="{C53F3443-3B3A-8D7F-356C-8DB19D411EFF}"/>
              </a:ext>
            </a:extLst>
          </p:cNvPr>
          <p:cNvSpPr txBox="1"/>
          <p:nvPr/>
        </p:nvSpPr>
        <p:spPr>
          <a:xfrm>
            <a:off x="4776568" y="5692578"/>
            <a:ext cx="2638864" cy="584775"/>
          </a:xfrm>
          <a:prstGeom prst="rect">
            <a:avLst/>
          </a:prstGeom>
          <a:noFill/>
        </p:spPr>
        <p:txBody>
          <a:bodyPr wrap="none" rtlCol="0">
            <a:spAutoFit/>
          </a:bodyPr>
          <a:lstStyle/>
          <a:p>
            <a:pPr algn="ctr"/>
            <a:r>
              <a:rPr lang="en-GB" sz="3200" b="1" dirty="0"/>
              <a:t>(10 Minutes)</a:t>
            </a:r>
          </a:p>
        </p:txBody>
      </p:sp>
    </p:spTree>
    <p:extLst>
      <p:ext uri="{BB962C8B-B14F-4D97-AF65-F5344CB8AC3E}">
        <p14:creationId xmlns:p14="http://schemas.microsoft.com/office/powerpoint/2010/main" val="1672646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6FE-4B66-7C74-2380-2F5E3E2F11E6}"/>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285E8A98-4FF5-4D60-AEE3-E762750DCAD8}"/>
              </a:ext>
            </a:extLst>
          </p:cNvPr>
          <p:cNvSpPr>
            <a:spLocks noGrp="1"/>
          </p:cNvSpPr>
          <p:nvPr>
            <p:ph idx="1"/>
          </p:nvPr>
        </p:nvSpPr>
        <p:spPr/>
        <p:txBody>
          <a:bodyPr/>
          <a:lstStyle/>
          <a:p>
            <a:r>
              <a:rPr lang="en-GB" dirty="0"/>
              <a:t>One of the issues with a naive text prompt is that it doesn’t brief the AI on what types of product names you wanted. </a:t>
            </a:r>
          </a:p>
          <a:p>
            <a:r>
              <a:rPr lang="en-GB" dirty="0"/>
              <a:t>To some extent, naming a product is a subjective endeavour, and without giving the AI an idea of what names you like, it has a low probability of guessing right.</a:t>
            </a:r>
          </a:p>
          <a:p>
            <a:r>
              <a:rPr lang="en-GB" dirty="0"/>
              <a:t>A human would also struggle to complete this task without a good brief, which is why creative and branding agencies require a detailed briefing on any task from their clients.</a:t>
            </a:r>
          </a:p>
          <a:p>
            <a:r>
              <a:rPr lang="en-GB" dirty="0"/>
              <a:t>There are also some rules or best practices you would do well to follow, which could be included in the prompt as context to guide the AI.</a:t>
            </a:r>
          </a:p>
        </p:txBody>
      </p:sp>
    </p:spTree>
    <p:extLst>
      <p:ext uri="{BB962C8B-B14F-4D97-AF65-F5344CB8AC3E}">
        <p14:creationId xmlns:p14="http://schemas.microsoft.com/office/powerpoint/2010/main" val="2394261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AF05-7A3C-7FDC-4FEF-C92586F32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0DCCE-4B3E-9C5F-F7A1-67170D0926DE}"/>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A0354750-0E16-92A2-DC43-A055229411BE}"/>
              </a:ext>
            </a:extLst>
          </p:cNvPr>
          <p:cNvSpPr>
            <a:spLocks noGrp="1"/>
          </p:cNvSpPr>
          <p:nvPr>
            <p:ph idx="1"/>
          </p:nvPr>
        </p:nvSpPr>
        <p:spPr/>
        <p:txBody>
          <a:bodyPr/>
          <a:lstStyle/>
          <a:p>
            <a:pPr marL="0" indent="0">
              <a:buNone/>
            </a:pPr>
            <a:r>
              <a:rPr lang="en-GB" b="1" dirty="0"/>
              <a:t>Prewarming</a:t>
            </a:r>
            <a:r>
              <a:rPr lang="en-GB" dirty="0"/>
              <a:t>:</a:t>
            </a:r>
          </a:p>
          <a:p>
            <a:pPr marL="0" indent="0">
              <a:buNone/>
            </a:pPr>
            <a:r>
              <a:rPr lang="en-GB" dirty="0"/>
              <a:t>Giving the model context, examples, or setup before asking your real question.</a:t>
            </a:r>
          </a:p>
          <a:p>
            <a:pPr marL="0" indent="0">
              <a:buNone/>
            </a:pPr>
            <a:r>
              <a:rPr lang="en-GB" dirty="0"/>
              <a:t>LLMs don’t have memory between sessions, but they </a:t>
            </a:r>
            <a:r>
              <a:rPr lang="en-GB" b="1" dirty="0"/>
              <a:t>do build short-term context within a conversation</a:t>
            </a:r>
            <a:r>
              <a:rPr lang="en-GB" dirty="0"/>
              <a:t>. Prewarming helps the model:</a:t>
            </a:r>
          </a:p>
          <a:p>
            <a:r>
              <a:rPr lang="en-GB" dirty="0"/>
              <a:t>Lock into the right </a:t>
            </a:r>
            <a:r>
              <a:rPr lang="en-GB" b="1" dirty="0"/>
              <a:t>tone/style</a:t>
            </a:r>
            <a:r>
              <a:rPr lang="en-GB" dirty="0"/>
              <a:t> </a:t>
            </a:r>
          </a:p>
          <a:p>
            <a:r>
              <a:rPr lang="en-GB" dirty="0"/>
              <a:t>Understand the </a:t>
            </a:r>
            <a:r>
              <a:rPr lang="en-GB" b="1" dirty="0"/>
              <a:t>task format</a:t>
            </a:r>
            <a:r>
              <a:rPr lang="en-GB" dirty="0"/>
              <a:t> </a:t>
            </a:r>
          </a:p>
          <a:p>
            <a:r>
              <a:rPr lang="en-GB" dirty="0"/>
              <a:t>Activate the relevant “</a:t>
            </a:r>
            <a:r>
              <a:rPr lang="en-GB" b="1" dirty="0"/>
              <a:t>knowledge patterns</a:t>
            </a:r>
            <a:r>
              <a:rPr lang="en-GB" dirty="0"/>
              <a:t>”</a:t>
            </a:r>
          </a:p>
          <a:p>
            <a:pPr marL="0" indent="0">
              <a:buNone/>
            </a:pPr>
            <a:endParaRPr lang="en-GB" dirty="0"/>
          </a:p>
        </p:txBody>
      </p:sp>
    </p:spTree>
    <p:extLst>
      <p:ext uri="{BB962C8B-B14F-4D97-AF65-F5344CB8AC3E}">
        <p14:creationId xmlns:p14="http://schemas.microsoft.com/office/powerpoint/2010/main" val="1510988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7136-554D-AE8A-CC4A-E580B356B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314E0-9D12-C784-62FB-082E06FEB1E4}"/>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BB6CC082-A6AD-099C-9F10-0D8FF057C68F}"/>
              </a:ext>
            </a:extLst>
          </p:cNvPr>
          <p:cNvSpPr>
            <a:spLocks noGrp="1"/>
          </p:cNvSpPr>
          <p:nvPr>
            <p:ph idx="1"/>
          </p:nvPr>
        </p:nvSpPr>
        <p:spPr/>
        <p:txBody>
          <a:bodyPr/>
          <a:lstStyle/>
          <a:p>
            <a:pPr marL="0" indent="0">
              <a:buNone/>
            </a:pPr>
            <a:r>
              <a:rPr lang="en-GB" b="1" dirty="0"/>
              <a:t>Internal Retrieval</a:t>
            </a:r>
            <a:r>
              <a:rPr lang="en-GB" dirty="0"/>
              <a:t>:</a:t>
            </a:r>
          </a:p>
          <a:p>
            <a:pPr marL="0" indent="0">
              <a:buNone/>
            </a:pPr>
            <a:r>
              <a:rPr lang="en-GB" dirty="0"/>
              <a:t>The model </a:t>
            </a:r>
            <a:r>
              <a:rPr lang="en-GB" i="1" dirty="0"/>
              <a:t>implicitly pulling relevant knowledge from its trained parameters</a:t>
            </a:r>
            <a:r>
              <a:rPr lang="en-GB" dirty="0"/>
              <a:t> (its weights), without using an external database.</a:t>
            </a:r>
          </a:p>
          <a:p>
            <a:pPr marL="0" indent="0">
              <a:buNone/>
            </a:pPr>
            <a:r>
              <a:rPr lang="en-GB" dirty="0"/>
              <a:t>The model:</a:t>
            </a:r>
          </a:p>
          <a:p>
            <a:r>
              <a:rPr lang="en-GB" dirty="0"/>
              <a:t>Doesn’t “search the internet” </a:t>
            </a:r>
          </a:p>
          <a:p>
            <a:r>
              <a:rPr lang="en-GB" dirty="0"/>
              <a:t>Doesn’t access a database (unless explicitly connected to one) </a:t>
            </a:r>
          </a:p>
          <a:p>
            <a:pPr marL="0" indent="0">
              <a:buNone/>
            </a:pPr>
            <a:r>
              <a:rPr lang="en-GB" dirty="0"/>
              <a:t>Instead, it:</a:t>
            </a:r>
          </a:p>
          <a:p>
            <a:r>
              <a:rPr lang="en-GB" dirty="0"/>
              <a:t>Activates patterns learned during training </a:t>
            </a:r>
          </a:p>
          <a:p>
            <a:r>
              <a:rPr lang="en-GB" dirty="0"/>
              <a:t>“Retrieves” knowledge from </a:t>
            </a:r>
            <a:r>
              <a:rPr lang="en-GB" b="1" dirty="0"/>
              <a:t>statistical associations in its neural network</a:t>
            </a:r>
            <a:endParaRPr lang="en-GB" dirty="0"/>
          </a:p>
          <a:p>
            <a:pPr marL="0" indent="0">
              <a:buNone/>
            </a:pPr>
            <a:endParaRPr lang="en-GB" dirty="0"/>
          </a:p>
        </p:txBody>
      </p:sp>
    </p:spTree>
    <p:extLst>
      <p:ext uri="{BB962C8B-B14F-4D97-AF65-F5344CB8AC3E}">
        <p14:creationId xmlns:p14="http://schemas.microsoft.com/office/powerpoint/2010/main" val="647990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340BD-6B4E-E454-FF48-587B2902E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302B2-39B8-6337-A337-006A2DDC06F9}"/>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935BC0BC-EE15-3F76-2EDB-79534617B9B1}"/>
              </a:ext>
            </a:extLst>
          </p:cNvPr>
          <p:cNvSpPr>
            <a:spLocks noGrp="1"/>
          </p:cNvSpPr>
          <p:nvPr>
            <p:ph idx="1"/>
          </p:nvPr>
        </p:nvSpPr>
        <p:spPr/>
        <p:txBody>
          <a:bodyPr/>
          <a:lstStyle/>
          <a:p>
            <a:pPr marL="0" indent="0">
              <a:buNone/>
            </a:pPr>
            <a:r>
              <a:rPr lang="en-GB" b="1" dirty="0"/>
              <a:t>Using its own advice</a:t>
            </a:r>
            <a:r>
              <a:rPr lang="en-GB" dirty="0"/>
              <a:t>:</a:t>
            </a:r>
          </a:p>
          <a:p>
            <a:pPr marL="0" indent="0">
              <a:buNone/>
            </a:pPr>
            <a:r>
              <a:rPr lang="en-GB" dirty="0"/>
              <a:t>We can start a conversation by asking for best practice advice from LLM, and then asking it to follow its own advice, can help a lot.</a:t>
            </a:r>
          </a:p>
          <a:p>
            <a:pPr marL="0" indent="0">
              <a:buNone/>
            </a:pPr>
            <a:endParaRPr lang="en-GB" dirty="0"/>
          </a:p>
          <a:p>
            <a:pPr marL="0" indent="0">
              <a:buNone/>
            </a:pPr>
            <a:r>
              <a:rPr lang="en-GB" b="1" dirty="0"/>
              <a:t>Input:</a:t>
            </a:r>
          </a:p>
          <a:p>
            <a:pPr marL="0" indent="0" fontAlgn="base">
              <a:buNone/>
            </a:pPr>
            <a:r>
              <a:rPr lang="en-GB" dirty="0"/>
              <a:t>“Please give me 5 tips for naming products based on expert industry advice.”</a:t>
            </a:r>
          </a:p>
          <a:p>
            <a:pPr marL="0" indent="0">
              <a:buNone/>
            </a:pPr>
            <a:endParaRPr lang="en-GB" dirty="0"/>
          </a:p>
          <a:p>
            <a:pPr marL="0" indent="0">
              <a:buNone/>
            </a:pPr>
            <a:r>
              <a:rPr lang="en-GB" dirty="0"/>
              <a:t>Then within the same chat window, where the model has the context of the past advice it gave, you ask your initial prompt for the task you wanted to complete.</a:t>
            </a:r>
          </a:p>
        </p:txBody>
      </p:sp>
    </p:spTree>
    <p:extLst>
      <p:ext uri="{BB962C8B-B14F-4D97-AF65-F5344CB8AC3E}">
        <p14:creationId xmlns:p14="http://schemas.microsoft.com/office/powerpoint/2010/main" val="3511011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D4CB-238F-485C-BA1F-49101691F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479BC-44F0-7ED2-3849-81E18222DF5A}"/>
              </a:ext>
            </a:extLst>
          </p:cNvPr>
          <p:cNvSpPr>
            <a:spLocks noGrp="1"/>
          </p:cNvSpPr>
          <p:nvPr>
            <p:ph type="title"/>
          </p:nvPr>
        </p:nvSpPr>
        <p:spPr/>
        <p:txBody>
          <a:bodyPr/>
          <a:lstStyle/>
          <a:p>
            <a:r>
              <a:rPr lang="en-GB" dirty="0"/>
              <a:t>1. Give Direction</a:t>
            </a:r>
          </a:p>
        </p:txBody>
      </p:sp>
      <p:sp>
        <p:nvSpPr>
          <p:cNvPr id="3" name="Content Placeholder 2">
            <a:extLst>
              <a:ext uri="{FF2B5EF4-FFF2-40B4-BE49-F238E27FC236}">
                <a16:creationId xmlns:a16="http://schemas.microsoft.com/office/drawing/2014/main" id="{CBE00F82-3742-E7C7-366D-413D6EFC4C23}"/>
              </a:ext>
            </a:extLst>
          </p:cNvPr>
          <p:cNvSpPr>
            <a:spLocks noGrp="1"/>
          </p:cNvSpPr>
          <p:nvPr>
            <p:ph idx="1"/>
          </p:nvPr>
        </p:nvSpPr>
        <p:spPr/>
        <p:txBody>
          <a:bodyPr/>
          <a:lstStyle/>
          <a:p>
            <a:pPr marL="0" indent="0">
              <a:buNone/>
            </a:pPr>
            <a:r>
              <a:rPr lang="en-GB" b="1" dirty="0"/>
              <a:t>Entering context in prompt</a:t>
            </a:r>
            <a:r>
              <a:rPr lang="en-GB" dirty="0"/>
              <a:t>:</a:t>
            </a:r>
          </a:p>
          <a:p>
            <a:r>
              <a:rPr lang="en-GB" dirty="0"/>
              <a:t>Another fruitful strategy in our experience is to take the best advice out there for the task you want to accomplish and insert that context into the prompt.</a:t>
            </a:r>
          </a:p>
          <a:p>
            <a:r>
              <a:rPr lang="en-GB" dirty="0"/>
              <a:t>An external trusted source can give a good context for the AI to work with.</a:t>
            </a:r>
          </a:p>
          <a:p>
            <a:r>
              <a:rPr lang="en-GB" dirty="0"/>
              <a:t>This will increase the length of the prompt significantly, which costs more money, but may be worth the trade-off if the quality of the response improves</a:t>
            </a:r>
          </a:p>
        </p:txBody>
      </p:sp>
    </p:spTree>
    <p:extLst>
      <p:ext uri="{BB962C8B-B14F-4D97-AF65-F5344CB8AC3E}">
        <p14:creationId xmlns:p14="http://schemas.microsoft.com/office/powerpoint/2010/main" val="449157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C61F7-AC71-13C4-40D8-0BDC8BD39842}"/>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0FB60886-5D3D-58A9-7B09-912649AE858D}"/>
              </a:ext>
            </a:extLst>
          </p:cNvPr>
          <p:cNvSpPr>
            <a:spLocks noGrp="1"/>
          </p:cNvSpPr>
          <p:nvPr>
            <p:ph idx="1"/>
          </p:nvPr>
        </p:nvSpPr>
        <p:spPr/>
        <p:txBody>
          <a:bodyPr/>
          <a:lstStyle/>
          <a:p>
            <a:r>
              <a:rPr lang="en-GB" dirty="0"/>
              <a:t>AI models are universal translators. Not only does that mean translating from French to English, but also between data structures like JSON to YAML</a:t>
            </a:r>
          </a:p>
          <a:p>
            <a:r>
              <a:rPr lang="en-GB" dirty="0"/>
              <a:t>An important part of prompt engineering is finding ways to specify what format you want the response to be in.</a:t>
            </a:r>
          </a:p>
          <a:p>
            <a:r>
              <a:rPr lang="en-GB" dirty="0"/>
              <a:t>When you are incorporating AI tools into production software, occasional flips in format can cause all kinds of errors.</a:t>
            </a:r>
          </a:p>
          <a:p>
            <a:r>
              <a:rPr lang="en-GB" dirty="0"/>
              <a:t>For text generation models, it can often be helpful to output JSON instead of a simple ordered list because that’s the universal format for API responses.</a:t>
            </a:r>
          </a:p>
        </p:txBody>
      </p:sp>
    </p:spTree>
    <p:extLst>
      <p:ext uri="{BB962C8B-B14F-4D97-AF65-F5344CB8AC3E}">
        <p14:creationId xmlns:p14="http://schemas.microsoft.com/office/powerpoint/2010/main" val="3007922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88B4D-398B-2ECB-B812-46F768BAC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60C2D-BF06-FD1F-3ABF-2CF2BBCA7943}"/>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5AB8020B-2DC4-3993-2B9A-81A6E23B0473}"/>
              </a:ext>
            </a:extLst>
          </p:cNvPr>
          <p:cNvSpPr>
            <a:spLocks noGrp="1"/>
          </p:cNvSpPr>
          <p:nvPr>
            <p:ph idx="1"/>
          </p:nvPr>
        </p:nvSpPr>
        <p:spPr/>
        <p:txBody>
          <a:bodyPr>
            <a:normAutofit fontScale="92500" lnSpcReduction="10000"/>
          </a:bodyPr>
          <a:lstStyle/>
          <a:p>
            <a:r>
              <a:rPr lang="en-GB" b="1" dirty="0"/>
              <a:t>Input</a:t>
            </a:r>
            <a:r>
              <a:rPr lang="en-GB" dirty="0"/>
              <a:t>:</a:t>
            </a:r>
          </a:p>
          <a:p>
            <a:pPr marL="0" indent="0">
              <a:buNone/>
            </a:pPr>
            <a:r>
              <a:rPr lang="en-GB" dirty="0"/>
              <a:t>Return a comma-separated list of product names in JSON for</a:t>
            </a:r>
          </a:p>
          <a:p>
            <a:pPr marL="0" indent="0">
              <a:buNone/>
            </a:pPr>
            <a:r>
              <a:rPr lang="en-GB" dirty="0"/>
              <a:t>"A pair of shoes that can fit any foot size.".</a:t>
            </a:r>
          </a:p>
          <a:p>
            <a:pPr marL="0" indent="0">
              <a:buNone/>
            </a:pPr>
            <a:r>
              <a:rPr lang="en-GB" dirty="0"/>
              <a:t>Return only JSON.</a:t>
            </a:r>
          </a:p>
          <a:p>
            <a:pPr marL="0" indent="0">
              <a:buNone/>
            </a:pPr>
            <a:endParaRPr lang="en-GB" dirty="0"/>
          </a:p>
          <a:p>
            <a:pPr marL="0" indent="0">
              <a:buNone/>
            </a:pPr>
            <a:r>
              <a:rPr lang="en-GB" dirty="0"/>
              <a:t>Examples:</a:t>
            </a:r>
          </a:p>
          <a:p>
            <a:pPr marL="0" indent="0">
              <a:buNone/>
            </a:pPr>
            <a:r>
              <a:rPr lang="en-GB" dirty="0"/>
              <a:t>[{</a:t>
            </a:r>
          </a:p>
          <a:p>
            <a:pPr marL="0" indent="0">
              <a:buNone/>
            </a:pPr>
            <a:r>
              <a:rPr lang="en-GB" dirty="0"/>
              <a:t>		"Product description": "A home milkshake maker.",</a:t>
            </a:r>
          </a:p>
          <a:p>
            <a:pPr marL="0" indent="0">
              <a:buNone/>
            </a:pPr>
            <a:r>
              <a:rPr lang="en-GB" dirty="0"/>
              <a:t>		"Product names": ["</a:t>
            </a:r>
            <a:r>
              <a:rPr lang="en-GB" dirty="0" err="1"/>
              <a:t>HomeShaker</a:t>
            </a:r>
            <a:r>
              <a:rPr lang="en-GB" dirty="0"/>
              <a:t>", "Fit Shaker", “</a:t>
            </a:r>
            <a:r>
              <a:rPr lang="en-GB" dirty="0" err="1"/>
              <a:t>QuickShake</a:t>
            </a:r>
            <a:r>
              <a:rPr lang="en-GB" dirty="0"/>
              <a:t>",]</a:t>
            </a:r>
          </a:p>
          <a:p>
            <a:pPr marL="0" indent="0">
              <a:buNone/>
            </a:pPr>
            <a:r>
              <a:rPr lang="en-GB" dirty="0"/>
              <a:t>}]</a:t>
            </a:r>
          </a:p>
        </p:txBody>
      </p:sp>
    </p:spTree>
    <p:extLst>
      <p:ext uri="{BB962C8B-B14F-4D97-AF65-F5344CB8AC3E}">
        <p14:creationId xmlns:p14="http://schemas.microsoft.com/office/powerpoint/2010/main" val="297055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CD80C-C830-532B-6061-EFEDC2130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57451-B530-7451-1F21-44F98FAF9FF4}"/>
              </a:ext>
            </a:extLst>
          </p:cNvPr>
          <p:cNvSpPr>
            <a:spLocks noGrp="1"/>
          </p:cNvSpPr>
          <p:nvPr>
            <p:ph type="title"/>
          </p:nvPr>
        </p:nvSpPr>
        <p:spPr/>
        <p:txBody>
          <a:bodyPr/>
          <a:lstStyle/>
          <a:p>
            <a:r>
              <a:rPr lang="en-GB" dirty="0"/>
              <a:t>2. Specify Format</a:t>
            </a:r>
          </a:p>
        </p:txBody>
      </p:sp>
      <p:sp>
        <p:nvSpPr>
          <p:cNvPr id="3" name="Content Placeholder 2">
            <a:extLst>
              <a:ext uri="{FF2B5EF4-FFF2-40B4-BE49-F238E27FC236}">
                <a16:creationId xmlns:a16="http://schemas.microsoft.com/office/drawing/2014/main" id="{85953381-159E-00F6-6AF2-1AA164816A58}"/>
              </a:ext>
            </a:extLst>
          </p:cNvPr>
          <p:cNvSpPr>
            <a:spLocks noGrp="1"/>
          </p:cNvSpPr>
          <p:nvPr>
            <p:ph idx="1"/>
          </p:nvPr>
        </p:nvSpPr>
        <p:spPr/>
        <p:txBody>
          <a:bodyPr>
            <a:normAutofit/>
          </a:bodyPr>
          <a:lstStyle/>
          <a:p>
            <a:pPr marL="0" indent="0">
              <a:buNone/>
            </a:pPr>
            <a:r>
              <a:rPr lang="en-GB" b="1" dirty="0"/>
              <a:t>Image Generation</a:t>
            </a:r>
            <a:r>
              <a:rPr lang="en-GB" dirty="0"/>
              <a:t>:</a:t>
            </a:r>
          </a:p>
          <a:p>
            <a:r>
              <a:rPr lang="en-GB" dirty="0"/>
              <a:t>For image generation models, format is very important, because the opportunities for modifying an image are near endless. </a:t>
            </a:r>
          </a:p>
          <a:p>
            <a:r>
              <a:rPr lang="en-GB" dirty="0"/>
              <a:t>They range from obvious formats like stock photo, illustration, and oil painting, to more unusual formats like dashcam footage, ice sculpture, or in Minecraft.</a:t>
            </a:r>
          </a:p>
          <a:p>
            <a:r>
              <a:rPr lang="en-GB" dirty="0"/>
              <a:t>When setting a format, it is often necessary to remove other aspects of the prompt that might clash with the specified format</a:t>
            </a:r>
          </a:p>
        </p:txBody>
      </p:sp>
    </p:spTree>
    <p:extLst>
      <p:ext uri="{BB962C8B-B14F-4D97-AF65-F5344CB8AC3E}">
        <p14:creationId xmlns:p14="http://schemas.microsoft.com/office/powerpoint/2010/main" val="315711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9776-86EC-F1A5-BE44-19E23D09FE3E}"/>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83F1622B-31DF-1A45-BD13-C034EB721D41}"/>
              </a:ext>
            </a:extLst>
          </p:cNvPr>
          <p:cNvSpPr>
            <a:spLocks noGrp="1"/>
          </p:cNvSpPr>
          <p:nvPr>
            <p:ph idx="1"/>
          </p:nvPr>
        </p:nvSpPr>
        <p:spPr/>
        <p:txBody>
          <a:bodyPr/>
          <a:lstStyle/>
          <a:p>
            <a:r>
              <a:rPr lang="en-GB" dirty="0"/>
              <a:t>Researchers would call a prompt with no examples zero-shot, and it’s always a pleasant surprise when AI can even do a task zero shot. </a:t>
            </a:r>
          </a:p>
          <a:p>
            <a:r>
              <a:rPr lang="en-GB" dirty="0"/>
              <a:t>If you’re providing zero examples, you’re asking for a lot without giving much in return. </a:t>
            </a:r>
          </a:p>
          <a:p>
            <a:r>
              <a:rPr lang="en-GB" dirty="0"/>
              <a:t>Even providing one example (one-shot) helps considerably, and…</a:t>
            </a:r>
          </a:p>
          <a:p>
            <a:r>
              <a:rPr lang="en-GB" dirty="0"/>
              <a:t>it’s the norm among researchers to test how models perform with multiple examples (few-shot).</a:t>
            </a:r>
          </a:p>
        </p:txBody>
      </p:sp>
    </p:spTree>
    <p:extLst>
      <p:ext uri="{BB962C8B-B14F-4D97-AF65-F5344CB8AC3E}">
        <p14:creationId xmlns:p14="http://schemas.microsoft.com/office/powerpoint/2010/main" val="3305028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D121B-81E3-FBAC-283E-3F9AC7FA3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16816-B7C9-DB40-55E7-82492AB8EE0A}"/>
              </a:ext>
            </a:extLst>
          </p:cNvPr>
          <p:cNvSpPr>
            <a:spLocks noGrp="1"/>
          </p:cNvSpPr>
          <p:nvPr>
            <p:ph type="title"/>
          </p:nvPr>
        </p:nvSpPr>
        <p:spPr/>
        <p:txBody>
          <a:bodyPr/>
          <a:lstStyle/>
          <a:p>
            <a:r>
              <a:rPr lang="en-GB" dirty="0"/>
              <a:t>3. Provide Examples</a:t>
            </a:r>
          </a:p>
        </p:txBody>
      </p:sp>
      <p:pic>
        <p:nvPicPr>
          <p:cNvPr id="1026" name="Picture 2" descr="pega 0108">
            <a:extLst>
              <a:ext uri="{FF2B5EF4-FFF2-40B4-BE49-F238E27FC236}">
                <a16:creationId xmlns:a16="http://schemas.microsoft.com/office/drawing/2014/main" id="{4301CDB0-A0F4-6A68-0AED-FC9FB1689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5574" y="1680898"/>
            <a:ext cx="8027726" cy="4749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54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AE32-C44C-8513-42B6-61C14DCA6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882F0-8EDC-204D-C747-E810B88B8119}"/>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E78B193E-AD54-F278-5945-BC820FDFA9BC}"/>
              </a:ext>
            </a:extLst>
          </p:cNvPr>
          <p:cNvSpPr>
            <a:spLocks noGrp="1"/>
          </p:cNvSpPr>
          <p:nvPr>
            <p:ph idx="1"/>
          </p:nvPr>
        </p:nvSpPr>
        <p:spPr/>
        <p:txBody>
          <a:bodyPr/>
          <a:lstStyle/>
          <a:p>
            <a:r>
              <a:rPr lang="en-GB" dirty="0"/>
              <a:t>There’s a trade-off between reliability and creativity: go past three to five examples and your results will become more reliable, while sacrificing creativity. </a:t>
            </a:r>
          </a:p>
          <a:p>
            <a:r>
              <a:rPr lang="en-GB" dirty="0"/>
              <a:t>The more examples you provide, and the lesser the diversity between them, the more constrained the response will be to match your examples. </a:t>
            </a:r>
          </a:p>
          <a:p>
            <a:r>
              <a:rPr lang="en-GB" dirty="0"/>
              <a:t>This runs the risk of missing out on returning a much better name that doesn’t fit the limited space left for the AI to play in</a:t>
            </a:r>
          </a:p>
        </p:txBody>
      </p:sp>
    </p:spTree>
    <p:extLst>
      <p:ext uri="{BB962C8B-B14F-4D97-AF65-F5344CB8AC3E}">
        <p14:creationId xmlns:p14="http://schemas.microsoft.com/office/powerpoint/2010/main" val="36404147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A6F1-B292-B74E-D77C-F88716A4B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0FE37-7C0D-4CBC-C27E-4768CA89D9ED}"/>
              </a:ext>
            </a:extLst>
          </p:cNvPr>
          <p:cNvSpPr>
            <a:spLocks noGrp="1"/>
          </p:cNvSpPr>
          <p:nvPr>
            <p:ph type="title"/>
          </p:nvPr>
        </p:nvSpPr>
        <p:spPr/>
        <p:txBody>
          <a:bodyPr/>
          <a:lstStyle/>
          <a:p>
            <a:r>
              <a:rPr lang="en-GB" dirty="0"/>
              <a:t>3. Provide Examples</a:t>
            </a:r>
          </a:p>
        </p:txBody>
      </p:sp>
      <p:sp>
        <p:nvSpPr>
          <p:cNvPr id="3" name="Content Placeholder 2">
            <a:extLst>
              <a:ext uri="{FF2B5EF4-FFF2-40B4-BE49-F238E27FC236}">
                <a16:creationId xmlns:a16="http://schemas.microsoft.com/office/drawing/2014/main" id="{EFB60CB8-6184-F8AE-EBAA-73443B4C2C4C}"/>
              </a:ext>
            </a:extLst>
          </p:cNvPr>
          <p:cNvSpPr>
            <a:spLocks noGrp="1"/>
          </p:cNvSpPr>
          <p:nvPr>
            <p:ph idx="1"/>
          </p:nvPr>
        </p:nvSpPr>
        <p:spPr/>
        <p:txBody>
          <a:bodyPr/>
          <a:lstStyle/>
          <a:p>
            <a:r>
              <a:rPr lang="en-GB" dirty="0"/>
              <a:t>In the image generation space, providing examples usually comes in the form of providing a base image in the prompt, called img2img in the open-source </a:t>
            </a:r>
            <a:r>
              <a:rPr lang="en-GB" b="1" dirty="0"/>
              <a:t>Stable Diffusion</a:t>
            </a:r>
            <a:r>
              <a:rPr lang="en-GB" dirty="0"/>
              <a:t> community.</a:t>
            </a:r>
          </a:p>
          <a:p>
            <a:r>
              <a:rPr lang="en-GB" dirty="0"/>
              <a:t> Depending on the image generation model being used, these images can be used as a starting point for the model to generate from, which greatly affects the results. </a:t>
            </a:r>
          </a:p>
          <a:p>
            <a:r>
              <a:rPr lang="en-GB" dirty="0"/>
              <a:t>You can keep everything about the prompt the same but swap out the provided base image for a radically different effect.</a:t>
            </a:r>
          </a:p>
        </p:txBody>
      </p:sp>
    </p:spTree>
    <p:extLst>
      <p:ext uri="{BB962C8B-B14F-4D97-AF65-F5344CB8AC3E}">
        <p14:creationId xmlns:p14="http://schemas.microsoft.com/office/powerpoint/2010/main" val="3582309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97F3-FA8E-5AB2-732E-B7230AF51C91}"/>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3685397E-AC09-1B8C-B569-9434DA05FB73}"/>
              </a:ext>
            </a:extLst>
          </p:cNvPr>
          <p:cNvSpPr>
            <a:spLocks noGrp="1"/>
          </p:cNvSpPr>
          <p:nvPr>
            <p:ph idx="1"/>
          </p:nvPr>
        </p:nvSpPr>
        <p:spPr/>
        <p:txBody>
          <a:bodyPr/>
          <a:lstStyle/>
          <a:p>
            <a:r>
              <a:rPr lang="en-GB" dirty="0"/>
              <a:t>When you’re reusing the same prompt multiple times or building a production application that relies on a prompt, you need measuring results.</a:t>
            </a:r>
          </a:p>
          <a:p>
            <a:r>
              <a:rPr lang="en-GB" dirty="0"/>
              <a:t>When a new AI model is released, the focus tends to be on how well the model did on </a:t>
            </a:r>
            <a:r>
              <a:rPr lang="en-GB" b="1" dirty="0"/>
              <a:t>evals</a:t>
            </a:r>
            <a:r>
              <a:rPr lang="en-GB" dirty="0"/>
              <a:t> (evaluations), a standardized set of questions with predefined answers or grading criteria that are used to test performance across models. </a:t>
            </a:r>
          </a:p>
          <a:p>
            <a:r>
              <a:rPr lang="en-GB" dirty="0"/>
              <a:t>Different models perform differently across different types of tasks, and there is no guarantee a prompt that worked previously will translate well to a new model</a:t>
            </a:r>
          </a:p>
        </p:txBody>
      </p:sp>
    </p:spTree>
    <p:extLst>
      <p:ext uri="{BB962C8B-B14F-4D97-AF65-F5344CB8AC3E}">
        <p14:creationId xmlns:p14="http://schemas.microsoft.com/office/powerpoint/2010/main" val="1526579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9B44-48F9-583A-C484-F536D35B2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167DC-1362-4D43-EE43-D96E657F886A}"/>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70D767D0-DB32-C6E2-305B-E62141397ECF}"/>
              </a:ext>
            </a:extLst>
          </p:cNvPr>
          <p:cNvSpPr>
            <a:spLocks noGrp="1"/>
          </p:cNvSpPr>
          <p:nvPr>
            <p:ph idx="1"/>
          </p:nvPr>
        </p:nvSpPr>
        <p:spPr/>
        <p:txBody>
          <a:bodyPr/>
          <a:lstStyle/>
          <a:p>
            <a:pPr marL="0" indent="0">
              <a:buNone/>
            </a:pPr>
            <a:r>
              <a:rPr lang="en-GB" b="1" dirty="0"/>
              <a:t>1. Clarity</a:t>
            </a:r>
          </a:p>
          <a:p>
            <a:r>
              <a:rPr lang="en-GB" dirty="0"/>
              <a:t>Does the model clearly understand what you want?</a:t>
            </a:r>
          </a:p>
          <a:p>
            <a:r>
              <a:rPr lang="en-GB" dirty="0"/>
              <a:t>❌ “Explain this topic” </a:t>
            </a:r>
          </a:p>
          <a:p>
            <a:r>
              <a:rPr lang="en-GB" dirty="0"/>
              <a:t>✅ “Explain dependency injection to a beginner using a real-world analogy in under 150 words” </a:t>
            </a:r>
          </a:p>
          <a:p>
            <a:pPr marL="0" indent="0">
              <a:buNone/>
            </a:pPr>
            <a:endParaRPr lang="en-GB" dirty="0"/>
          </a:p>
          <a:p>
            <a:pPr marL="0" indent="0">
              <a:buNone/>
            </a:pPr>
            <a:r>
              <a:rPr lang="en-GB" dirty="0">
                <a:sym typeface="Wingdings" panose="05000000000000000000" pitchFamily="2" charset="2"/>
              </a:rPr>
              <a:t></a:t>
            </a:r>
            <a:r>
              <a:rPr lang="en-GB" dirty="0"/>
              <a:t> </a:t>
            </a:r>
            <a:r>
              <a:rPr lang="en-GB" i="1" dirty="0"/>
              <a:t>If a human would ask follow-up questions, the prompt isn’t clear enough.</a:t>
            </a:r>
          </a:p>
          <a:p>
            <a:endParaRPr lang="en-GB" dirty="0"/>
          </a:p>
        </p:txBody>
      </p:sp>
    </p:spTree>
    <p:extLst>
      <p:ext uri="{BB962C8B-B14F-4D97-AF65-F5344CB8AC3E}">
        <p14:creationId xmlns:p14="http://schemas.microsoft.com/office/powerpoint/2010/main" val="2585233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EFA09-223E-D2DE-4345-ECC8B0D65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80768-9A29-5B5B-14DA-DE0741B90D4A}"/>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D3D5D68B-8915-D508-66CB-B3EDDDBB2305}"/>
              </a:ext>
            </a:extLst>
          </p:cNvPr>
          <p:cNvSpPr>
            <a:spLocks noGrp="1"/>
          </p:cNvSpPr>
          <p:nvPr>
            <p:ph idx="1"/>
          </p:nvPr>
        </p:nvSpPr>
        <p:spPr/>
        <p:txBody>
          <a:bodyPr/>
          <a:lstStyle/>
          <a:p>
            <a:pPr marL="0" indent="0">
              <a:buNone/>
            </a:pPr>
            <a:r>
              <a:rPr lang="en-GB" b="1" dirty="0"/>
              <a:t>2. Specificity (but not overkill)</a:t>
            </a:r>
          </a:p>
          <a:p>
            <a:r>
              <a:rPr lang="en-GB" dirty="0"/>
              <a:t>Good prompts narrow the task </a:t>
            </a:r>
            <a:r>
              <a:rPr lang="en-GB" i="1" dirty="0"/>
              <a:t>just enough</a:t>
            </a:r>
            <a:r>
              <a:rPr lang="en-GB" dirty="0"/>
              <a:t>.</a:t>
            </a:r>
          </a:p>
          <a:p>
            <a:pPr lvl="1"/>
            <a:r>
              <a:rPr lang="en-GB" dirty="0"/>
              <a:t>Too vague → inconsistent output </a:t>
            </a:r>
          </a:p>
          <a:p>
            <a:pPr lvl="1"/>
            <a:r>
              <a:rPr lang="en-GB" dirty="0"/>
              <a:t>Too detailed → brittle or over-constrained </a:t>
            </a:r>
          </a:p>
          <a:p>
            <a:r>
              <a:rPr lang="en-GB" dirty="0"/>
              <a:t>You want constraints that matter:</a:t>
            </a:r>
          </a:p>
          <a:p>
            <a:pPr lvl="1"/>
            <a:r>
              <a:rPr lang="en-GB" dirty="0"/>
              <a:t>audience </a:t>
            </a:r>
          </a:p>
          <a:p>
            <a:pPr lvl="1"/>
            <a:r>
              <a:rPr lang="en-GB" dirty="0"/>
              <a:t>format </a:t>
            </a:r>
          </a:p>
          <a:p>
            <a:pPr lvl="1"/>
            <a:r>
              <a:rPr lang="en-GB" dirty="0"/>
              <a:t>length </a:t>
            </a:r>
          </a:p>
          <a:p>
            <a:pPr lvl="1"/>
            <a:r>
              <a:rPr lang="en-GB" dirty="0"/>
              <a:t>goal</a:t>
            </a:r>
          </a:p>
          <a:p>
            <a:endParaRPr lang="en-GB" dirty="0"/>
          </a:p>
        </p:txBody>
      </p:sp>
    </p:spTree>
    <p:extLst>
      <p:ext uri="{BB962C8B-B14F-4D97-AF65-F5344CB8AC3E}">
        <p14:creationId xmlns:p14="http://schemas.microsoft.com/office/powerpoint/2010/main" val="4114085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509B-7B4F-F49B-CC3C-E6735E8AA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A9EA0-64BE-18D8-2745-C86AD8840071}"/>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519493E8-6898-A37A-8CB8-1265647E8589}"/>
              </a:ext>
            </a:extLst>
          </p:cNvPr>
          <p:cNvSpPr>
            <a:spLocks noGrp="1"/>
          </p:cNvSpPr>
          <p:nvPr>
            <p:ph idx="1"/>
          </p:nvPr>
        </p:nvSpPr>
        <p:spPr/>
        <p:txBody>
          <a:bodyPr/>
          <a:lstStyle/>
          <a:p>
            <a:pPr marL="0" indent="0">
              <a:buNone/>
            </a:pPr>
            <a:r>
              <a:rPr lang="en-GB" b="1" dirty="0"/>
              <a:t>3. Output Alignment</a:t>
            </a:r>
          </a:p>
          <a:p>
            <a:r>
              <a:rPr lang="en-GB" dirty="0"/>
              <a:t>Does the response match your intended outcome?</a:t>
            </a:r>
          </a:p>
          <a:p>
            <a:pPr marL="0" indent="0">
              <a:buNone/>
            </a:pPr>
            <a:endParaRPr lang="en-GB" dirty="0"/>
          </a:p>
          <a:p>
            <a:pPr marL="0" indent="0">
              <a:buNone/>
            </a:pPr>
            <a:r>
              <a:rPr lang="en-GB" dirty="0"/>
              <a:t>Ask:</a:t>
            </a:r>
          </a:p>
          <a:p>
            <a:r>
              <a:rPr lang="en-GB" dirty="0"/>
              <a:t>Is the format correct? </a:t>
            </a:r>
          </a:p>
          <a:p>
            <a:r>
              <a:rPr lang="en-GB" dirty="0"/>
              <a:t>Is the depth right? </a:t>
            </a:r>
          </a:p>
          <a:p>
            <a:r>
              <a:rPr lang="en-GB" dirty="0"/>
              <a:t>Is it usable </a:t>
            </a:r>
            <a:r>
              <a:rPr lang="en-GB" i="1" dirty="0"/>
              <a:t>without editing</a:t>
            </a:r>
            <a:r>
              <a:rPr lang="en-GB" dirty="0"/>
              <a:t>? </a:t>
            </a:r>
          </a:p>
          <a:p>
            <a:pPr marL="0" indent="0">
              <a:buNone/>
            </a:pPr>
            <a:endParaRPr lang="en-GB" dirty="0"/>
          </a:p>
          <a:p>
            <a:pPr marL="0" indent="0">
              <a:buNone/>
            </a:pPr>
            <a:r>
              <a:rPr lang="en-GB" dirty="0"/>
              <a:t>A high-quality prompt minimizes post-processing.</a:t>
            </a:r>
          </a:p>
          <a:p>
            <a:endParaRPr lang="en-GB" dirty="0"/>
          </a:p>
        </p:txBody>
      </p:sp>
    </p:spTree>
    <p:extLst>
      <p:ext uri="{BB962C8B-B14F-4D97-AF65-F5344CB8AC3E}">
        <p14:creationId xmlns:p14="http://schemas.microsoft.com/office/powerpoint/2010/main" val="33558416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0730-2E40-C0A8-9562-EC3295B4D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2EED4-B4FE-CF72-3793-5E26D9DCBCD5}"/>
              </a:ext>
            </a:extLst>
          </p:cNvPr>
          <p:cNvSpPr>
            <a:spLocks noGrp="1"/>
          </p:cNvSpPr>
          <p:nvPr>
            <p:ph type="title"/>
          </p:nvPr>
        </p:nvSpPr>
        <p:spPr/>
        <p:txBody>
          <a:bodyPr/>
          <a:lstStyle/>
          <a:p>
            <a:r>
              <a:rPr lang="en-GB" dirty="0"/>
              <a:t>4. Evaluate Quality</a:t>
            </a:r>
          </a:p>
        </p:txBody>
      </p:sp>
      <p:sp>
        <p:nvSpPr>
          <p:cNvPr id="3" name="Content Placeholder 2">
            <a:extLst>
              <a:ext uri="{FF2B5EF4-FFF2-40B4-BE49-F238E27FC236}">
                <a16:creationId xmlns:a16="http://schemas.microsoft.com/office/drawing/2014/main" id="{94D29DE1-445B-79B0-9642-4DBCA6E4B2E4}"/>
              </a:ext>
            </a:extLst>
          </p:cNvPr>
          <p:cNvSpPr>
            <a:spLocks noGrp="1"/>
          </p:cNvSpPr>
          <p:nvPr>
            <p:ph idx="1"/>
          </p:nvPr>
        </p:nvSpPr>
        <p:spPr/>
        <p:txBody>
          <a:bodyPr/>
          <a:lstStyle/>
          <a:p>
            <a:pPr marL="0" indent="0">
              <a:buNone/>
            </a:pPr>
            <a:r>
              <a:rPr lang="en-GB" b="1" dirty="0"/>
              <a:t>Practical Evaluation Method</a:t>
            </a:r>
          </a:p>
          <a:p>
            <a:r>
              <a:rPr lang="en-GB" dirty="0"/>
              <a:t>A simple way to test a prompt:</a:t>
            </a:r>
          </a:p>
          <a:p>
            <a:r>
              <a:rPr lang="en-GB" b="1" dirty="0"/>
              <a:t>Baseline run</a:t>
            </a:r>
            <a:r>
              <a:rPr lang="en-GB" dirty="0"/>
              <a:t> → check quality </a:t>
            </a:r>
          </a:p>
          <a:p>
            <a:r>
              <a:rPr lang="en-GB" b="1" dirty="0"/>
              <a:t>Repeat 3–5 times</a:t>
            </a:r>
            <a:r>
              <a:rPr lang="en-GB" dirty="0"/>
              <a:t> → check consistency </a:t>
            </a:r>
          </a:p>
          <a:p>
            <a:r>
              <a:rPr lang="en-GB" b="1" dirty="0"/>
              <a:t>Trim 20–30% of words</a:t>
            </a:r>
            <a:r>
              <a:rPr lang="en-GB" dirty="0"/>
              <a:t> → check efficiency </a:t>
            </a:r>
          </a:p>
          <a:p>
            <a:r>
              <a:rPr lang="en-GB" b="1" dirty="0"/>
              <a:t>Change input slightly</a:t>
            </a:r>
            <a:r>
              <a:rPr lang="en-GB" dirty="0"/>
              <a:t> → check robustness </a:t>
            </a:r>
          </a:p>
          <a:p>
            <a:r>
              <a:rPr lang="en-GB" b="1" dirty="0"/>
              <a:t>Stress test</a:t>
            </a:r>
            <a:r>
              <a:rPr lang="en-GB" dirty="0"/>
              <a:t> with edge cases </a:t>
            </a:r>
          </a:p>
          <a:p>
            <a:pPr marL="0" indent="0">
              <a:buNone/>
            </a:pPr>
            <a:r>
              <a:rPr lang="en-GB" dirty="0"/>
              <a:t>If it survives all five → it’s a solid prompt.</a:t>
            </a:r>
          </a:p>
          <a:p>
            <a:endParaRPr lang="en-GB" dirty="0"/>
          </a:p>
        </p:txBody>
      </p:sp>
    </p:spTree>
    <p:extLst>
      <p:ext uri="{BB962C8B-B14F-4D97-AF65-F5344CB8AC3E}">
        <p14:creationId xmlns:p14="http://schemas.microsoft.com/office/powerpoint/2010/main" val="278044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2BC24-6C6F-CAE4-FF5F-63E9D1A94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6684C-C6AE-2E6C-2138-38F894B4B856}"/>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17647DCF-DA36-4033-5ACA-A9772C02545A}"/>
              </a:ext>
            </a:extLst>
          </p:cNvPr>
          <p:cNvSpPr>
            <a:spLocks noGrp="1"/>
          </p:cNvSpPr>
          <p:nvPr>
            <p:ph idx="1"/>
          </p:nvPr>
        </p:nvSpPr>
        <p:spPr/>
        <p:txBody>
          <a:bodyPr/>
          <a:lstStyle/>
          <a:p>
            <a:r>
              <a:rPr lang="en-GB" dirty="0"/>
              <a:t>As you build out your prompt, you start to get to the point where you’re asking a lot in a single call to the AI. </a:t>
            </a:r>
          </a:p>
          <a:p>
            <a:r>
              <a:rPr lang="en-GB" dirty="0"/>
              <a:t>When prompts get longer, you may find the responses get less deterministic, and hallucinations or anomalies increase. </a:t>
            </a:r>
          </a:p>
          <a:p>
            <a:r>
              <a:rPr lang="en-GB" dirty="0"/>
              <a:t>Even if you manage to arrive at a reliable prompt there might be a number of interrelated tasks you need to do your job. </a:t>
            </a:r>
          </a:p>
          <a:p>
            <a:r>
              <a:rPr lang="en-GB" dirty="0"/>
              <a:t>Breaking your AI work into multiple calls that are chained together can help you accomplish more complex tasks.</a:t>
            </a:r>
          </a:p>
        </p:txBody>
      </p:sp>
    </p:spTree>
    <p:extLst>
      <p:ext uri="{BB962C8B-B14F-4D97-AF65-F5344CB8AC3E}">
        <p14:creationId xmlns:p14="http://schemas.microsoft.com/office/powerpoint/2010/main" val="4047861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B81B9-B6B6-0BFC-965B-C53EC6FE4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4841F-727C-3C06-3151-5599E260759C}"/>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58904E0B-AB48-80C7-EC64-1B07ED3C94CA}"/>
              </a:ext>
            </a:extLst>
          </p:cNvPr>
          <p:cNvSpPr>
            <a:spLocks noGrp="1"/>
          </p:cNvSpPr>
          <p:nvPr>
            <p:ph idx="1"/>
          </p:nvPr>
        </p:nvSpPr>
        <p:spPr/>
        <p:txBody>
          <a:bodyPr/>
          <a:lstStyle/>
          <a:p>
            <a:pPr marL="0" indent="0">
              <a:buNone/>
            </a:pPr>
            <a:r>
              <a:rPr lang="en-GB" b="1" dirty="0"/>
              <a:t>“Chain of thought” (</a:t>
            </a:r>
            <a:r>
              <a:rPr lang="en-GB" b="1" dirty="0" err="1"/>
              <a:t>CoT</a:t>
            </a:r>
            <a:r>
              <a:rPr lang="en-GB" b="1" dirty="0"/>
              <a:t>) prompting:</a:t>
            </a:r>
          </a:p>
          <a:p>
            <a:r>
              <a:rPr lang="en-GB" dirty="0"/>
              <a:t>It is about getting the model to reason step-by-step instead of jumping straight to an answer. That usually improves performance on tasks that require logic, math, or multi-step thinking.</a:t>
            </a:r>
          </a:p>
          <a:p>
            <a:pPr marL="0" indent="0">
              <a:buNone/>
            </a:pPr>
            <a:r>
              <a:rPr lang="en-GB" dirty="0"/>
              <a:t>This nudges the model to:</a:t>
            </a:r>
          </a:p>
          <a:p>
            <a:r>
              <a:rPr lang="en-GB" dirty="0"/>
              <a:t>break the problem into parts </a:t>
            </a:r>
          </a:p>
          <a:p>
            <a:r>
              <a:rPr lang="en-GB" dirty="0"/>
              <a:t>reduce mistakes </a:t>
            </a:r>
          </a:p>
          <a:p>
            <a:r>
              <a:rPr lang="en-GB" dirty="0"/>
              <a:t>stay consistent</a:t>
            </a:r>
          </a:p>
          <a:p>
            <a:endParaRPr lang="en-GB" dirty="0"/>
          </a:p>
        </p:txBody>
      </p:sp>
    </p:spTree>
    <p:extLst>
      <p:ext uri="{BB962C8B-B14F-4D97-AF65-F5344CB8AC3E}">
        <p14:creationId xmlns:p14="http://schemas.microsoft.com/office/powerpoint/2010/main" val="3598241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A969-0947-684B-4D32-BE9E0EEE2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D4E28-2C93-250F-8CEB-BC7A0C7579B0}"/>
              </a:ext>
            </a:extLst>
          </p:cNvPr>
          <p:cNvSpPr>
            <a:spLocks noGrp="1"/>
          </p:cNvSpPr>
          <p:nvPr>
            <p:ph type="title"/>
          </p:nvPr>
        </p:nvSpPr>
        <p:spPr/>
        <p:txBody>
          <a:bodyPr/>
          <a:lstStyle/>
          <a:p>
            <a:r>
              <a:rPr lang="en-GB" dirty="0"/>
              <a:t>5. Divide Labor</a:t>
            </a:r>
          </a:p>
        </p:txBody>
      </p:sp>
      <p:sp>
        <p:nvSpPr>
          <p:cNvPr id="3" name="Content Placeholder 2">
            <a:extLst>
              <a:ext uri="{FF2B5EF4-FFF2-40B4-BE49-F238E27FC236}">
                <a16:creationId xmlns:a16="http://schemas.microsoft.com/office/drawing/2014/main" id="{42B42425-5B75-4D47-4CEC-0AB19F8D512F}"/>
              </a:ext>
            </a:extLst>
          </p:cNvPr>
          <p:cNvSpPr>
            <a:spLocks noGrp="1"/>
          </p:cNvSpPr>
          <p:nvPr>
            <p:ph idx="1"/>
          </p:nvPr>
        </p:nvSpPr>
        <p:spPr/>
        <p:txBody>
          <a:bodyPr/>
          <a:lstStyle/>
          <a:p>
            <a:pPr marL="0" indent="0">
              <a:buNone/>
            </a:pPr>
            <a:r>
              <a:rPr lang="en-GB" dirty="0"/>
              <a:t>LLMs generate text token by token. When you encourage intermediate steps, you:</a:t>
            </a:r>
          </a:p>
          <a:p>
            <a:r>
              <a:rPr lang="en-GB" dirty="0"/>
              <a:t>externalize reasoning </a:t>
            </a:r>
          </a:p>
          <a:p>
            <a:r>
              <a:rPr lang="en-GB" dirty="0"/>
              <a:t>reduce “guessing” </a:t>
            </a:r>
          </a:p>
          <a:p>
            <a:r>
              <a:rPr lang="en-GB" dirty="0"/>
              <a:t>guide the model through a structured path </a:t>
            </a:r>
          </a:p>
          <a:p>
            <a:pPr marL="0" indent="0">
              <a:buNone/>
            </a:pPr>
            <a:r>
              <a:rPr lang="en-GB" dirty="0"/>
              <a:t>It’s especially useful for:</a:t>
            </a:r>
          </a:p>
          <a:p>
            <a:r>
              <a:rPr lang="en-GB" dirty="0"/>
              <a:t>math </a:t>
            </a:r>
          </a:p>
          <a:p>
            <a:r>
              <a:rPr lang="en-GB" dirty="0"/>
              <a:t>logic puzzles </a:t>
            </a:r>
          </a:p>
          <a:p>
            <a:r>
              <a:rPr lang="en-GB" dirty="0"/>
              <a:t>coding </a:t>
            </a:r>
          </a:p>
          <a:p>
            <a:r>
              <a:rPr lang="en-GB" dirty="0"/>
              <a:t>multi-step explanations</a:t>
            </a:r>
          </a:p>
        </p:txBody>
      </p:sp>
    </p:spTree>
    <p:extLst>
      <p:ext uri="{BB962C8B-B14F-4D97-AF65-F5344CB8AC3E}">
        <p14:creationId xmlns:p14="http://schemas.microsoft.com/office/powerpoint/2010/main" val="206200583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TM03457515[[fn=View]]</Template>
  <TotalTime>1934</TotalTime>
  <Words>2697</Words>
  <Application>Microsoft Office PowerPoint</Application>
  <PresentationFormat>Widescreen</PresentationFormat>
  <Paragraphs>283</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Neue Haas Grotesk Text Pro</vt:lpstr>
      <vt:lpstr>Wingdings</vt:lpstr>
      <vt:lpstr>VanillaVTI</vt:lpstr>
      <vt:lpstr>4COSC017W - Applications of AI and Prompt Engineering</vt:lpstr>
      <vt:lpstr>What is a prompt?</vt:lpstr>
      <vt:lpstr>Textbook</vt:lpstr>
      <vt:lpstr>Example from Textbook, (2024)</vt:lpstr>
      <vt:lpstr>The authors comment</vt:lpstr>
      <vt:lpstr>Output for the same question today in ChatGPT</vt:lpstr>
      <vt:lpstr>Tech / Futuristic Style</vt:lpstr>
      <vt:lpstr>Premium / Brandable Names</vt:lpstr>
      <vt:lpstr>Simple &amp; Descriptive</vt:lpstr>
      <vt:lpstr>Catchy / Consumer-Friendly </vt:lpstr>
      <vt:lpstr>Sport / Performance Style </vt:lpstr>
      <vt:lpstr>And it then gives more suggestions</vt:lpstr>
      <vt:lpstr>Issues with this prompt</vt:lpstr>
      <vt:lpstr>Vague direction </vt:lpstr>
      <vt:lpstr>Unformatted output</vt:lpstr>
      <vt:lpstr>Missing examples </vt:lpstr>
      <vt:lpstr>Limited evaluation </vt:lpstr>
      <vt:lpstr>No task division </vt:lpstr>
      <vt:lpstr>Average Prompts  Average Responses</vt:lpstr>
      <vt:lpstr>Cost of Prompting</vt:lpstr>
      <vt:lpstr>Example of Better Prompt</vt:lpstr>
      <vt:lpstr>Output</vt:lpstr>
      <vt:lpstr>Five Principles of Prompting</vt:lpstr>
      <vt:lpstr>Downloadable one-pagers for text and image generation</vt:lpstr>
      <vt:lpstr>Class Activity</vt:lpstr>
      <vt:lpstr>1. Give Direction</vt:lpstr>
      <vt:lpstr>1. Give Direction</vt:lpstr>
      <vt:lpstr>1. Give Direction</vt:lpstr>
      <vt:lpstr>1. Give Direction</vt:lpstr>
      <vt:lpstr>1. Give Direction</vt:lpstr>
      <vt:lpstr>2. Specify Format</vt:lpstr>
      <vt:lpstr>2. Specify Format</vt:lpstr>
      <vt:lpstr>2. Specify Format</vt:lpstr>
      <vt:lpstr>3. Provide Examples</vt:lpstr>
      <vt:lpstr>3. Provide Examples</vt:lpstr>
      <vt:lpstr>3. Provide Examples</vt:lpstr>
      <vt:lpstr>3. Provide Examples</vt:lpstr>
      <vt:lpstr>4. Evaluate Quality</vt:lpstr>
      <vt:lpstr>4. Evaluate Quality</vt:lpstr>
      <vt:lpstr>4. Evaluate Quality</vt:lpstr>
      <vt:lpstr>4. Evaluate Quality</vt:lpstr>
      <vt:lpstr>4. Evaluate Quality</vt:lpstr>
      <vt:lpstr>5. Divide Labor</vt:lpstr>
      <vt:lpstr>5. Divide Labor</vt:lpstr>
      <vt:lpstr>5. Divide Labor</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Umair Khan</dc:creator>
  <cp:lastModifiedBy>Umair Khan</cp:lastModifiedBy>
  <cp:revision>8</cp:revision>
  <dcterms:created xsi:type="dcterms:W3CDTF">2026-03-24T15:03:52Z</dcterms:created>
  <dcterms:modified xsi:type="dcterms:W3CDTF">2026-04-20T01:35:59Z</dcterms:modified>
</cp:coreProperties>
</file>